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9" r:id="rId4"/>
    <p:sldId id="260" r:id="rId5"/>
    <p:sldId id="261" r:id="rId6"/>
    <p:sldId id="262" r:id="rId7"/>
    <p:sldId id="266" r:id="rId8"/>
    <p:sldId id="282" r:id="rId9"/>
    <p:sldId id="283" r:id="rId10"/>
    <p:sldId id="263" r:id="rId11"/>
    <p:sldId id="264" r:id="rId12"/>
    <p:sldId id="265" r:id="rId13"/>
    <p:sldId id="267" r:id="rId14"/>
    <p:sldId id="268" r:id="rId15"/>
    <p:sldId id="271" r:id="rId16"/>
    <p:sldId id="269" r:id="rId17"/>
    <p:sldId id="272" r:id="rId18"/>
    <p:sldId id="281" r:id="rId19"/>
    <p:sldId id="270" r:id="rId20"/>
    <p:sldId id="273" r:id="rId21"/>
    <p:sldId id="274" r:id="rId22"/>
    <p:sldId id="275" r:id="rId23"/>
    <p:sldId id="276" r:id="rId24"/>
    <p:sldId id="278" r:id="rId25"/>
    <p:sldId id="280" r:id="rId26"/>
    <p:sldId id="279" r:id="rId2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01" y="-5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6C77B7-8919-4115-B4A8-0910FB025A54}" type="datetimeFigureOut">
              <a:rPr lang="fr-FR" smtClean="0"/>
              <a:t>29/11/2024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E762BF-061F-43A8-B394-92A9DA61707A}" type="slidenum">
              <a:rPr lang="fr-FR" smtClean="0"/>
              <a:t>‹N°›</a:t>
            </a:fld>
            <a:endParaRPr lang="fr-FR"/>
          </a:p>
        </p:txBody>
      </p:sp>
    </p:spTree>
    <p:extLst>
      <p:ext uri="{BB962C8B-B14F-4D97-AF65-F5344CB8AC3E}">
        <p14:creationId xmlns:p14="http://schemas.microsoft.com/office/powerpoint/2010/main" val="2069905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BE762BF-061F-43A8-B394-92A9DA61707A}" type="slidenum">
              <a:rPr lang="fr-FR" smtClean="0"/>
              <a:t>10</a:t>
            </a:fld>
            <a:endParaRPr lang="fr-FR"/>
          </a:p>
        </p:txBody>
      </p:sp>
    </p:spTree>
    <p:extLst>
      <p:ext uri="{BB962C8B-B14F-4D97-AF65-F5344CB8AC3E}">
        <p14:creationId xmlns:p14="http://schemas.microsoft.com/office/powerpoint/2010/main" val="736900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BE762BF-061F-43A8-B394-92A9DA61707A}" type="slidenum">
              <a:rPr lang="fr-FR" smtClean="0"/>
              <a:t>26</a:t>
            </a:fld>
            <a:endParaRPr lang="fr-FR"/>
          </a:p>
        </p:txBody>
      </p:sp>
    </p:spTree>
    <p:extLst>
      <p:ext uri="{BB962C8B-B14F-4D97-AF65-F5344CB8AC3E}">
        <p14:creationId xmlns:p14="http://schemas.microsoft.com/office/powerpoint/2010/main" val="2089538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1258838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439912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064955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8C1C33B3-33CE-477F-8A6E-FC188EED9DDF}" type="datetimeFigureOut">
              <a:rPr lang="fr-FR" smtClean="0"/>
              <a:t>29/11/2024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739155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8C1C33B3-33CE-477F-8A6E-FC188EED9DDF}" type="datetimeFigureOut">
              <a:rPr lang="fr-FR" smtClean="0"/>
              <a:t>29/11/2024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559229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8C1C33B3-33CE-477F-8A6E-FC188EED9DDF}" type="datetimeFigureOut">
              <a:rPr lang="fr-FR" smtClean="0"/>
              <a:t>29/11/2024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007057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C1C33B3-33CE-477F-8A6E-FC188EED9DDF}" type="datetimeFigureOut">
              <a:rPr lang="fr-FR" smtClean="0"/>
              <a:t>29/11/2024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2952406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8C1C33B3-33CE-477F-8A6E-FC188EED9DDF}" type="datetimeFigureOut">
              <a:rPr lang="fr-FR" smtClean="0"/>
              <a:t>29/11/2024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452684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8C1C33B3-33CE-477F-8A6E-FC188EED9DDF}" type="datetimeFigureOut">
              <a:rPr lang="fr-FR" smtClean="0"/>
              <a:t>29/11/2024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4034027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2304956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4280972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AB8C4C-79B8-4F91-A71B-CC08B2855A7C}" type="slidenum">
              <a:rPr lang="fr-FR" smtClean="0"/>
              <a:t>‹N°›</a:t>
            </a:fld>
            <a:endParaRPr lang="fr-FR"/>
          </a:p>
        </p:txBody>
      </p:sp>
    </p:spTree>
    <p:extLst>
      <p:ext uri="{BB962C8B-B14F-4D97-AF65-F5344CB8AC3E}">
        <p14:creationId xmlns:p14="http://schemas.microsoft.com/office/powerpoint/2010/main" val="672197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fr.wikipedia.org/wiki/SOA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fr.wikipedia.org/wiki/Representational_state_transf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API et Web Service</a:t>
            </a:r>
            <a:endParaRPr lang="fr-FR" dirty="0"/>
          </a:p>
        </p:txBody>
      </p:sp>
      <p:sp>
        <p:nvSpPr>
          <p:cNvPr id="3" name="Sous-titre 2"/>
          <p:cNvSpPr>
            <a:spLocks noGrp="1"/>
          </p:cNvSpPr>
          <p:nvPr>
            <p:ph type="subTitle" idx="1"/>
          </p:nvPr>
        </p:nvSpPr>
        <p:spPr/>
        <p:txBody>
          <a:bodyPr/>
          <a:lstStyle/>
          <a:p>
            <a:r>
              <a:rPr lang="fr-FR" dirty="0" smtClean="0"/>
              <a:t>B2-70</a:t>
            </a:r>
            <a:endParaRPr lang="fr-FR" dirty="0"/>
          </a:p>
        </p:txBody>
      </p:sp>
    </p:spTree>
    <p:extLst>
      <p:ext uri="{BB962C8B-B14F-4D97-AF65-F5344CB8AC3E}">
        <p14:creationId xmlns:p14="http://schemas.microsoft.com/office/powerpoint/2010/main" val="355716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API </a:t>
            </a:r>
            <a:br>
              <a:rPr lang="fr-FR" dirty="0" smtClean="0"/>
            </a:br>
            <a:r>
              <a:rPr lang="fr-FR" dirty="0" smtClean="0"/>
              <a:t>Application </a:t>
            </a:r>
            <a:r>
              <a:rPr lang="fr-FR" dirty="0" err="1" smtClean="0"/>
              <a:t>Programming</a:t>
            </a:r>
            <a:r>
              <a:rPr lang="fr-FR" dirty="0" smtClean="0"/>
              <a:t> Interface</a:t>
            </a:r>
            <a:endParaRPr lang="fr-FR" dirty="0"/>
          </a:p>
        </p:txBody>
      </p:sp>
      <p:sp>
        <p:nvSpPr>
          <p:cNvPr id="3" name="Espace réservé du contenu 2"/>
          <p:cNvSpPr>
            <a:spLocks noGrp="1"/>
          </p:cNvSpPr>
          <p:nvPr>
            <p:ph idx="1"/>
          </p:nvPr>
        </p:nvSpPr>
        <p:spPr/>
        <p:txBody>
          <a:bodyPr>
            <a:normAutofit fontScale="85000" lnSpcReduction="20000"/>
          </a:bodyPr>
          <a:lstStyle/>
          <a:p>
            <a:pPr algn="just"/>
            <a:r>
              <a:rPr lang="fr-FR" dirty="0"/>
              <a:t>Une API </a:t>
            </a:r>
            <a:r>
              <a:rPr lang="fr-FR" dirty="0" smtClean="0"/>
              <a:t>:</a:t>
            </a:r>
          </a:p>
          <a:p>
            <a:pPr lvl="1" algn="just"/>
            <a:r>
              <a:rPr lang="fr-FR" dirty="0" smtClean="0"/>
              <a:t>est un ensemble de moyens utilisés par un logiciel pour donner accès à certaines de ses fonctionnalités ou ressources.</a:t>
            </a:r>
          </a:p>
          <a:p>
            <a:pPr lvl="1" algn="just"/>
            <a:r>
              <a:rPr lang="fr-FR" dirty="0" smtClean="0"/>
              <a:t>permet </a:t>
            </a:r>
            <a:r>
              <a:rPr lang="fr-FR" dirty="0"/>
              <a:t>à un logiciel de </a:t>
            </a:r>
            <a:r>
              <a:rPr lang="fr-FR" dirty="0" smtClean="0"/>
              <a:t>"parler" </a:t>
            </a:r>
            <a:r>
              <a:rPr lang="fr-FR" dirty="0"/>
              <a:t>à un </a:t>
            </a:r>
            <a:r>
              <a:rPr lang="fr-FR" dirty="0" smtClean="0"/>
              <a:t>autre,</a:t>
            </a:r>
          </a:p>
          <a:p>
            <a:pPr lvl="1" algn="just"/>
            <a:r>
              <a:rPr lang="fr-FR" dirty="0" smtClean="0"/>
              <a:t>C’est un moyen mis en place par un logiciel pour que d’autres logiciels puissent interagir simplement avec lui. </a:t>
            </a:r>
          </a:p>
          <a:p>
            <a:pPr lvl="1" algn="just"/>
            <a:r>
              <a:rPr lang="fr-FR" dirty="0" smtClean="0"/>
              <a:t>définit </a:t>
            </a:r>
            <a:r>
              <a:rPr lang="fr-FR" dirty="0"/>
              <a:t>comment un programmeur peut écrire un logiciel pour parler aux fonctionnalités d'une application existante </a:t>
            </a:r>
            <a:r>
              <a:rPr lang="fr-FR" dirty="0" smtClean="0"/>
              <a:t>(ou construire </a:t>
            </a:r>
            <a:r>
              <a:rPr lang="fr-FR" dirty="0"/>
              <a:t>des applications entièrement </a:t>
            </a:r>
            <a:r>
              <a:rPr lang="fr-FR" dirty="0" smtClean="0"/>
              <a:t>nouvelles).</a:t>
            </a:r>
          </a:p>
          <a:p>
            <a:pPr lvl="1" algn="just"/>
            <a:r>
              <a:rPr lang="fr-FR" b="1" dirty="0" smtClean="0"/>
              <a:t>peut </a:t>
            </a:r>
            <a:r>
              <a:rPr lang="fr-FR" b="1" dirty="0"/>
              <a:t>utiliser des interactions Web </a:t>
            </a:r>
            <a:r>
              <a:rPr lang="fr-FR" dirty="0" smtClean="0"/>
              <a:t>ou </a:t>
            </a:r>
            <a:r>
              <a:rPr lang="fr-FR" dirty="0"/>
              <a:t>des protocoles de communication, et </a:t>
            </a:r>
            <a:r>
              <a:rPr lang="fr-FR" dirty="0" smtClean="0"/>
              <a:t>peut </a:t>
            </a:r>
            <a:r>
              <a:rPr lang="fr-FR" dirty="0"/>
              <a:t>également utiliser ses propres normes </a:t>
            </a:r>
            <a:r>
              <a:rPr lang="fr-FR" dirty="0" smtClean="0"/>
              <a:t>propriétaires,</a:t>
            </a:r>
          </a:p>
          <a:p>
            <a:pPr lvl="1" algn="just"/>
            <a:endParaRPr lang="fr-FR" dirty="0" smtClean="0"/>
          </a:p>
          <a:p>
            <a:pPr algn="just"/>
            <a:endParaRPr lang="fr-FR" dirty="0"/>
          </a:p>
          <a:p>
            <a:endParaRPr lang="fr-FR" dirty="0"/>
          </a:p>
        </p:txBody>
      </p:sp>
    </p:spTree>
    <p:extLst>
      <p:ext uri="{BB962C8B-B14F-4D97-AF65-F5344CB8AC3E}">
        <p14:creationId xmlns:p14="http://schemas.microsoft.com/office/powerpoint/2010/main" val="914130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60648"/>
            <a:ext cx="8229600" cy="1143000"/>
          </a:xfrm>
        </p:spPr>
        <p:txBody>
          <a:bodyPr>
            <a:normAutofit fontScale="90000"/>
          </a:bodyPr>
          <a:lstStyle/>
          <a:p>
            <a:r>
              <a:rPr lang="fr-FR" dirty="0" smtClean="0"/>
              <a:t>Quelques cas </a:t>
            </a:r>
            <a:r>
              <a:rPr lang="fr-FR" dirty="0"/>
              <a:t>d'utilisation pour les API</a:t>
            </a:r>
            <a:r>
              <a:rPr lang="fr-FR" dirty="0" smtClean="0"/>
              <a:t>:</a:t>
            </a:r>
            <a:endParaRPr lang="fr-FR" dirty="0"/>
          </a:p>
        </p:txBody>
      </p:sp>
      <p:sp>
        <p:nvSpPr>
          <p:cNvPr id="3" name="Espace réservé du contenu 2"/>
          <p:cNvSpPr>
            <a:spLocks noGrp="1"/>
          </p:cNvSpPr>
          <p:nvPr>
            <p:ph idx="1"/>
          </p:nvPr>
        </p:nvSpPr>
        <p:spPr/>
        <p:txBody>
          <a:bodyPr/>
          <a:lstStyle/>
          <a:p>
            <a:endParaRPr lang="fr-FR"/>
          </a:p>
        </p:txBody>
      </p:sp>
    </p:spTree>
    <p:extLst>
      <p:ext uri="{BB962C8B-B14F-4D97-AF65-F5344CB8AC3E}">
        <p14:creationId xmlns:p14="http://schemas.microsoft.com/office/powerpoint/2010/main" val="4777036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Exemple 1 : Tâches d'automatisation </a:t>
            </a:r>
            <a:endParaRPr lang="fr-FR" dirty="0"/>
          </a:p>
        </p:txBody>
      </p:sp>
      <p:sp>
        <p:nvSpPr>
          <p:cNvPr id="3" name="Espace réservé du contenu 2"/>
          <p:cNvSpPr>
            <a:spLocks noGrp="1"/>
          </p:cNvSpPr>
          <p:nvPr>
            <p:ph idx="1"/>
          </p:nvPr>
        </p:nvSpPr>
        <p:spPr/>
        <p:txBody>
          <a:bodyPr>
            <a:normAutofit fontScale="77500" lnSpcReduction="20000"/>
          </a:bodyPr>
          <a:lstStyle/>
          <a:p>
            <a:pPr lvl="0"/>
            <a:r>
              <a:rPr lang="fr-FR" dirty="0" smtClean="0"/>
              <a:t>un </a:t>
            </a:r>
            <a:r>
              <a:rPr lang="fr-FR" dirty="0"/>
              <a:t>script qui exécute </a:t>
            </a:r>
            <a:r>
              <a:rPr lang="fr-FR" dirty="0" smtClean="0"/>
              <a:t>des </a:t>
            </a:r>
            <a:r>
              <a:rPr lang="fr-FR" dirty="0"/>
              <a:t>tâches manuelles automatiquement et par programme. </a:t>
            </a:r>
            <a:endParaRPr lang="fr-FR" dirty="0" smtClean="0"/>
          </a:p>
          <a:p>
            <a:pPr lvl="0"/>
            <a:r>
              <a:rPr lang="fr-FR" i="1" dirty="0" smtClean="0"/>
              <a:t>Exemple</a:t>
            </a:r>
            <a:r>
              <a:rPr lang="fr-FR" dirty="0"/>
              <a:t>: Vous êtes gestionnaire et le dernier jour de chaque période de paye, vous devez vous connecter manuellement au portail et télécharger la fiche de </a:t>
            </a:r>
            <a:r>
              <a:rPr lang="fr-FR" dirty="0" smtClean="0"/>
              <a:t>pointage de </a:t>
            </a:r>
            <a:r>
              <a:rPr lang="fr-FR" dirty="0"/>
              <a:t>chaque </a:t>
            </a:r>
            <a:r>
              <a:rPr lang="fr-FR" dirty="0" smtClean="0"/>
              <a:t>personne. </a:t>
            </a:r>
            <a:r>
              <a:rPr lang="fr-FR" dirty="0" smtClean="0"/>
              <a:t/>
            </a:r>
            <a:br>
              <a:rPr lang="fr-FR" dirty="0" smtClean="0"/>
            </a:br>
            <a:r>
              <a:rPr lang="fr-FR" dirty="0" smtClean="0"/>
              <a:t>Ensuite</a:t>
            </a:r>
            <a:r>
              <a:rPr lang="fr-FR" dirty="0"/>
              <a:t>, vous devez additionner manuellement le nombre d'heures travaillées par chaque personne afin que vous puissiez voir combien les payer. </a:t>
            </a:r>
            <a:r>
              <a:rPr lang="fr-FR" dirty="0" smtClean="0"/>
              <a:t/>
            </a:r>
            <a:br>
              <a:rPr lang="fr-FR" dirty="0" smtClean="0"/>
            </a:br>
            <a:r>
              <a:rPr lang="fr-FR" dirty="0" smtClean="0"/>
              <a:t>Si </a:t>
            </a:r>
            <a:r>
              <a:rPr lang="fr-FR" dirty="0"/>
              <a:t>vous créez un script automatisé qui appelle l'API du portail pour obtenir les données de chaque carte de </a:t>
            </a:r>
            <a:r>
              <a:rPr lang="fr-FR" dirty="0" smtClean="0"/>
              <a:t>pointage et </a:t>
            </a:r>
            <a:r>
              <a:rPr lang="fr-FR" dirty="0"/>
              <a:t>calculer le total à partir de ces données, votre script peut imprimer une liste des heures totales travaillées </a:t>
            </a:r>
            <a:r>
              <a:rPr lang="fr-FR" dirty="0" smtClean="0"/>
              <a:t>par personne. </a:t>
            </a:r>
          </a:p>
        </p:txBody>
      </p:sp>
    </p:spTree>
    <p:extLst>
      <p:ext uri="{BB962C8B-B14F-4D97-AF65-F5344CB8AC3E}">
        <p14:creationId xmlns:p14="http://schemas.microsoft.com/office/powerpoint/2010/main" val="290729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Exemple 2 : Intégration de données </a:t>
            </a:r>
            <a:endParaRPr lang="fr-FR" dirty="0"/>
          </a:p>
        </p:txBody>
      </p:sp>
      <p:sp>
        <p:nvSpPr>
          <p:cNvPr id="3" name="Espace réservé du contenu 2"/>
          <p:cNvSpPr>
            <a:spLocks noGrp="1"/>
          </p:cNvSpPr>
          <p:nvPr>
            <p:ph idx="1"/>
          </p:nvPr>
        </p:nvSpPr>
        <p:spPr/>
        <p:txBody>
          <a:bodyPr>
            <a:normAutofit fontScale="70000" lnSpcReduction="20000"/>
          </a:bodyPr>
          <a:lstStyle/>
          <a:p>
            <a:pPr lvl="0"/>
            <a:r>
              <a:rPr lang="fr-FR" dirty="0" smtClean="0"/>
              <a:t>Une application peut </a:t>
            </a:r>
            <a:r>
              <a:rPr lang="fr-FR" b="1" dirty="0" smtClean="0"/>
              <a:t>consommer</a:t>
            </a:r>
            <a:r>
              <a:rPr lang="fr-FR" dirty="0" smtClean="0"/>
              <a:t> des données fournies par une autre application ou y réagir. </a:t>
            </a:r>
          </a:p>
          <a:p>
            <a:pPr lvl="0"/>
            <a:r>
              <a:rPr lang="fr-FR" i="1" dirty="0" smtClean="0"/>
              <a:t>Exemple</a:t>
            </a:r>
            <a:r>
              <a:rPr lang="fr-FR" dirty="0" smtClean="0"/>
              <a:t>: </a:t>
            </a:r>
          </a:p>
          <a:p>
            <a:pPr lvl="0"/>
            <a:r>
              <a:rPr lang="fr-FR" dirty="0" smtClean="0"/>
              <a:t>De nombreux sites de commerce électronique utilisent des services de paiement accessibles via une </a:t>
            </a:r>
            <a:r>
              <a:rPr lang="fr-FR" b="1" dirty="0" smtClean="0"/>
              <a:t>API REST</a:t>
            </a:r>
            <a:r>
              <a:rPr lang="fr-FR" dirty="0" smtClean="0"/>
              <a:t>. (</a:t>
            </a:r>
            <a:r>
              <a:rPr lang="en-US" dirty="0" smtClean="0"/>
              <a:t>"</a:t>
            </a:r>
            <a:r>
              <a:rPr lang="en-US" dirty="0" err="1" smtClean="0"/>
              <a:t>REpresentational</a:t>
            </a:r>
            <a:r>
              <a:rPr lang="en-US" dirty="0" smtClean="0"/>
              <a:t> State Transfer")</a:t>
            </a:r>
          </a:p>
          <a:p>
            <a:pPr lvl="0"/>
            <a:r>
              <a:rPr lang="fr-FR" dirty="0" smtClean="0"/>
              <a:t>L'interface de paiement permet à un site fournisseur de transmettre des données relativement faibles (description de l'objet acheté et le prix). </a:t>
            </a:r>
            <a:r>
              <a:rPr lang="fr-FR" dirty="0" smtClean="0"/>
              <a:t/>
            </a:r>
            <a:br>
              <a:rPr lang="fr-FR" dirty="0" smtClean="0"/>
            </a:br>
            <a:r>
              <a:rPr lang="fr-FR" dirty="0" smtClean="0"/>
              <a:t>L'utilisateur </a:t>
            </a:r>
            <a:r>
              <a:rPr lang="fr-FR" dirty="0" smtClean="0"/>
              <a:t>s'authentifie ensuite indépendamment auprès du service de paiement pour confirmer le paiement. Cela permet au fournisseur de recevoir le paiement sans avoir besoin d'un accès direct aux données de la carte de crédit du client. Le fournisseur récupère un code de confirmation à utiliser par la comptabilité.</a:t>
            </a:r>
          </a:p>
          <a:p>
            <a:endParaRPr lang="fr-FR" dirty="0"/>
          </a:p>
        </p:txBody>
      </p:sp>
    </p:spTree>
    <p:extLst>
      <p:ext uri="{BB962C8B-B14F-4D97-AF65-F5344CB8AC3E}">
        <p14:creationId xmlns:p14="http://schemas.microsoft.com/office/powerpoint/2010/main" val="3292431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Exemple </a:t>
            </a:r>
            <a:r>
              <a:rPr lang="fr-FR" b="1" dirty="0" smtClean="0"/>
              <a:t>3 : </a:t>
            </a:r>
            <a:r>
              <a:rPr lang="fr-FR" b="1" dirty="0"/>
              <a:t>Fonctionnalité </a:t>
            </a:r>
            <a:endParaRPr lang="fr-FR" dirty="0"/>
          </a:p>
        </p:txBody>
      </p:sp>
      <p:sp>
        <p:nvSpPr>
          <p:cNvPr id="3" name="Espace réservé du contenu 2"/>
          <p:cNvSpPr>
            <a:spLocks noGrp="1"/>
          </p:cNvSpPr>
          <p:nvPr>
            <p:ph idx="1"/>
          </p:nvPr>
        </p:nvSpPr>
        <p:spPr/>
        <p:txBody>
          <a:bodyPr>
            <a:normAutofit fontScale="92500"/>
          </a:bodyPr>
          <a:lstStyle/>
          <a:p>
            <a:pPr lvl="0"/>
            <a:r>
              <a:rPr lang="fr-FR" dirty="0" smtClean="0"/>
              <a:t>Une application peut intégrer les fonctionnalités d'une autre application dans son produit. </a:t>
            </a:r>
          </a:p>
          <a:p>
            <a:pPr lvl="0"/>
            <a:r>
              <a:rPr lang="fr-FR" i="1" dirty="0" smtClean="0"/>
              <a:t>Exemple</a:t>
            </a:r>
            <a:r>
              <a:rPr lang="fr-FR" dirty="0" smtClean="0"/>
              <a:t>: </a:t>
            </a:r>
            <a:r>
              <a:rPr lang="fr-FR" dirty="0" smtClean="0"/>
              <a:t>Moult services </a:t>
            </a:r>
            <a:r>
              <a:rPr lang="fr-FR" dirty="0" smtClean="0"/>
              <a:t>en ligne, tels que </a:t>
            </a:r>
            <a:r>
              <a:rPr lang="fr-FR" dirty="0" err="1" smtClean="0"/>
              <a:t>Yelp</a:t>
            </a:r>
            <a:r>
              <a:rPr lang="fr-FR" dirty="0" smtClean="0"/>
              <a:t> et </a:t>
            </a:r>
            <a:r>
              <a:rPr lang="fr-FR" dirty="0" err="1" smtClean="0"/>
              <a:t>Uber</a:t>
            </a:r>
            <a:r>
              <a:rPr lang="fr-FR" dirty="0" smtClean="0"/>
              <a:t>, échangent des données avec Google </a:t>
            </a:r>
            <a:r>
              <a:rPr lang="fr-FR" dirty="0" err="1" smtClean="0"/>
              <a:t>Maps</a:t>
            </a:r>
            <a:r>
              <a:rPr lang="fr-FR" dirty="0" smtClean="0"/>
              <a:t> pour créer et optimiser les itinéraires de voyage. Ils intègrent également les fonctionnalités de Google </a:t>
            </a:r>
            <a:r>
              <a:rPr lang="fr-FR" dirty="0" err="1" smtClean="0"/>
              <a:t>Maps</a:t>
            </a:r>
            <a:r>
              <a:rPr lang="fr-FR" dirty="0" smtClean="0"/>
              <a:t> dans leurs propres applications et sites Web pour présenter des cartes d'itinéraires en temps réel.</a:t>
            </a:r>
          </a:p>
          <a:p>
            <a:endParaRPr lang="fr-FR" dirty="0"/>
          </a:p>
        </p:txBody>
      </p:sp>
    </p:spTree>
    <p:extLst>
      <p:ext uri="{BB962C8B-B14F-4D97-AF65-F5344CB8AC3E}">
        <p14:creationId xmlns:p14="http://schemas.microsoft.com/office/powerpoint/2010/main" val="322168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smtClean="0"/>
              <a:t>Synchrone ou asynchrone</a:t>
            </a:r>
            <a:endParaRPr lang="fr-FR" dirty="0"/>
          </a:p>
        </p:txBody>
      </p:sp>
      <p:sp>
        <p:nvSpPr>
          <p:cNvPr id="5" name="Espace réservé du contenu 4"/>
          <p:cNvSpPr>
            <a:spLocks noGrp="1"/>
          </p:cNvSpPr>
          <p:nvPr>
            <p:ph idx="1"/>
          </p:nvPr>
        </p:nvSpPr>
        <p:spPr/>
        <p:txBody>
          <a:bodyPr/>
          <a:lstStyle/>
          <a:p>
            <a:r>
              <a:rPr lang="fr-FR" dirty="0" smtClean="0"/>
              <a:t>l'API synchrone </a:t>
            </a:r>
            <a:r>
              <a:rPr lang="fr-FR" dirty="0"/>
              <a:t>va </a:t>
            </a:r>
            <a:r>
              <a:rPr lang="fr-FR" dirty="0" smtClean="0"/>
              <a:t>bloquer l'appelant jusqu'à ce qu'elle retourne les données. </a:t>
            </a:r>
          </a:p>
          <a:p>
            <a:r>
              <a:rPr lang="fr-FR" dirty="0" smtClean="0"/>
              <a:t>Asynchrone, l'API ne va pas bloquer l'appelant et exigera généralement une fonction de callback qui sera exécutée une fois le travail terminé.</a:t>
            </a:r>
            <a:endParaRPr lang="fr-FR" dirty="0"/>
          </a:p>
        </p:txBody>
      </p:sp>
    </p:spTree>
    <p:extLst>
      <p:ext uri="{BB962C8B-B14F-4D97-AF65-F5344CB8AC3E}">
        <p14:creationId xmlns:p14="http://schemas.microsoft.com/office/powerpoint/2010/main" val="100318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Parenthèse : fonction de callback ou fonction de rappel</a:t>
            </a:r>
            <a:endParaRPr lang="fr-FR" dirty="0"/>
          </a:p>
        </p:txBody>
      </p:sp>
      <p:sp>
        <p:nvSpPr>
          <p:cNvPr id="3" name="Espace réservé du contenu 2"/>
          <p:cNvSpPr>
            <a:spLocks noGrp="1"/>
          </p:cNvSpPr>
          <p:nvPr>
            <p:ph idx="1"/>
          </p:nvPr>
        </p:nvSpPr>
        <p:spPr/>
        <p:txBody>
          <a:bodyPr>
            <a:normAutofit fontScale="85000" lnSpcReduction="20000"/>
          </a:bodyPr>
          <a:lstStyle/>
          <a:p>
            <a:r>
              <a:rPr lang="fr-FR" dirty="0"/>
              <a:t>fonction qui est passée en argument à une autre </a:t>
            </a:r>
            <a:r>
              <a:rPr lang="fr-FR" dirty="0" smtClean="0"/>
              <a:t>fonction.</a:t>
            </a:r>
          </a:p>
          <a:p>
            <a:r>
              <a:rPr lang="fr-FR" dirty="0" smtClean="0"/>
              <a:t>La fonction paramètre (le callback) est </a:t>
            </a:r>
            <a:r>
              <a:rPr lang="fr-FR" dirty="0"/>
              <a:t>exécutée (ou "rappelée") </a:t>
            </a:r>
            <a:r>
              <a:rPr lang="fr-FR" dirty="0" smtClean="0"/>
              <a:t>après d'autres instructions de la fonction appelante</a:t>
            </a:r>
          </a:p>
          <a:p>
            <a:r>
              <a:rPr lang="fr-FR" dirty="0"/>
              <a:t>Les fonctions de callback sont très utilisées dans les environnements où les opérations sont asynchrones, </a:t>
            </a:r>
            <a:r>
              <a:rPr lang="fr-FR" dirty="0" smtClean="0"/>
              <a:t>tels la </a:t>
            </a:r>
            <a:r>
              <a:rPr lang="fr-FR" dirty="0"/>
              <a:t>gestion des événements (clicks, </a:t>
            </a:r>
            <a:r>
              <a:rPr lang="fr-FR" dirty="0" err="1"/>
              <a:t>timers</a:t>
            </a:r>
            <a:r>
              <a:rPr lang="fr-FR" dirty="0"/>
              <a:t>, etc</a:t>
            </a:r>
            <a:r>
              <a:rPr lang="fr-FR" dirty="0" smtClean="0"/>
              <a:t>.), les </a:t>
            </a:r>
            <a:r>
              <a:rPr lang="fr-FR" dirty="0"/>
              <a:t>appels </a:t>
            </a:r>
            <a:r>
              <a:rPr lang="fr-FR" dirty="0" smtClean="0"/>
              <a:t>réseau… </a:t>
            </a:r>
            <a:r>
              <a:rPr lang="fr-FR" dirty="0"/>
              <a:t>Au lieu d'attendre que l'opération soit terminée, un callback permet de continuer l'exécution du programme et d'appeler une fonction spécifique lorsque l'opération est terminée.</a:t>
            </a:r>
            <a:endParaRPr lang="fr-FR" dirty="0" smtClean="0"/>
          </a:p>
        </p:txBody>
      </p:sp>
    </p:spTree>
    <p:extLst>
      <p:ext uri="{BB962C8B-B14F-4D97-AF65-F5344CB8AC3E}">
        <p14:creationId xmlns:p14="http://schemas.microsoft.com/office/powerpoint/2010/main" val="2170402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Illustration fonction de callback</a:t>
            </a:r>
            <a:endParaRPr lang="fr-FR"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FR" dirty="0" err="1"/>
              <a:t>function</a:t>
            </a:r>
            <a:r>
              <a:rPr lang="fr-FR" dirty="0"/>
              <a:t> </a:t>
            </a:r>
            <a:r>
              <a:rPr lang="fr-FR" dirty="0" smtClean="0"/>
              <a:t>saluer(nom, </a:t>
            </a:r>
            <a:r>
              <a:rPr lang="fr-FR" dirty="0"/>
              <a:t>callback) { </a:t>
            </a:r>
            <a:br>
              <a:rPr lang="fr-FR" dirty="0"/>
            </a:br>
            <a:r>
              <a:rPr lang="fr-FR" dirty="0"/>
              <a:t>      console.log('Hello ' + </a:t>
            </a:r>
            <a:r>
              <a:rPr lang="fr-FR" dirty="0" err="1"/>
              <a:t>name</a:t>
            </a:r>
            <a:r>
              <a:rPr lang="fr-FR" dirty="0"/>
              <a:t>); </a:t>
            </a:r>
            <a:br>
              <a:rPr lang="fr-FR" dirty="0"/>
            </a:br>
            <a:r>
              <a:rPr lang="fr-FR" dirty="0"/>
              <a:t>      callback(); </a:t>
            </a:r>
            <a:r>
              <a:rPr lang="fr-FR" i="1" dirty="0"/>
              <a:t>// Fonction de callback </a:t>
            </a:r>
            <a:r>
              <a:rPr lang="fr-FR" i="1" dirty="0" smtClean="0"/>
              <a:t>appelée et qui s'exécutera après que saluer aura effectué le console.log</a:t>
            </a:r>
            <a:r>
              <a:rPr lang="fr-FR" dirty="0" smtClean="0"/>
              <a:t>} </a:t>
            </a:r>
            <a:endParaRPr lang="fr-FR" dirty="0"/>
          </a:p>
          <a:p>
            <a:pPr marL="0" indent="0">
              <a:buNone/>
            </a:pPr>
            <a:endParaRPr lang="fr-FR" dirty="0"/>
          </a:p>
          <a:p>
            <a:pPr marL="0" indent="0">
              <a:buNone/>
            </a:pPr>
            <a:r>
              <a:rPr lang="fr-FR" dirty="0" err="1"/>
              <a:t>function</a:t>
            </a:r>
            <a:r>
              <a:rPr lang="fr-FR" dirty="0"/>
              <a:t> </a:t>
            </a:r>
            <a:r>
              <a:rPr lang="fr-FR" dirty="0" err="1" smtClean="0"/>
              <a:t>direByeBye</a:t>
            </a:r>
            <a:r>
              <a:rPr lang="fr-FR" dirty="0" smtClean="0"/>
              <a:t>() </a:t>
            </a:r>
            <a:r>
              <a:rPr lang="fr-FR" dirty="0"/>
              <a:t>{ console.log(</a:t>
            </a:r>
            <a:r>
              <a:rPr lang="fr-FR" dirty="0" smtClean="0"/>
              <a:t>'Ciao </a:t>
            </a:r>
            <a:r>
              <a:rPr lang="fr-FR" dirty="0" err="1" smtClean="0"/>
              <a:t>Ciao</a:t>
            </a:r>
            <a:r>
              <a:rPr lang="fr-FR" dirty="0" smtClean="0"/>
              <a:t> !'); </a:t>
            </a:r>
            <a:r>
              <a:rPr lang="fr-FR" dirty="0"/>
              <a:t>}</a:t>
            </a:r>
          </a:p>
          <a:p>
            <a:pPr marL="0" indent="0">
              <a:buNone/>
            </a:pPr>
            <a:endParaRPr lang="fr-FR" dirty="0"/>
          </a:p>
          <a:p>
            <a:pPr marL="0" indent="0">
              <a:buNone/>
            </a:pPr>
            <a:r>
              <a:rPr lang="fr-FR" dirty="0"/>
              <a:t>//appel de la fonction </a:t>
            </a:r>
            <a:r>
              <a:rPr lang="fr-FR" dirty="0" err="1"/>
              <a:t>greet</a:t>
            </a:r>
            <a:endParaRPr lang="fr-FR" dirty="0"/>
          </a:p>
          <a:p>
            <a:pPr marL="0" indent="0">
              <a:buNone/>
            </a:pPr>
            <a:r>
              <a:rPr lang="fr-FR" dirty="0" smtClean="0"/>
              <a:t>saluer('Ada', </a:t>
            </a:r>
            <a:r>
              <a:rPr lang="fr-FR" dirty="0" err="1"/>
              <a:t>direByeBye</a:t>
            </a:r>
            <a:r>
              <a:rPr lang="fr-FR" dirty="0" smtClean="0"/>
              <a:t>);</a:t>
            </a:r>
          </a:p>
          <a:p>
            <a:pPr marL="0" indent="0">
              <a:buNone/>
            </a:pPr>
            <a:endParaRPr lang="fr-FR" dirty="0" smtClean="0"/>
          </a:p>
          <a:p>
            <a:pPr marL="0" indent="0">
              <a:buNone/>
            </a:pPr>
            <a:r>
              <a:rPr lang="fr-FR" dirty="0" smtClean="0"/>
              <a:t>Exécution </a:t>
            </a:r>
            <a:r>
              <a:rPr lang="fr-FR" dirty="0" smtClean="0">
                <a:sym typeface="Wingdings" pitchFamily="2" charset="2"/>
              </a:rPr>
              <a:t>   </a:t>
            </a:r>
            <a:r>
              <a:rPr lang="fr-FR" dirty="0" smtClean="0"/>
              <a:t>Hello Ada Ciao </a:t>
            </a:r>
            <a:r>
              <a:rPr lang="fr-FR" dirty="0" err="1" smtClean="0"/>
              <a:t>Ciao</a:t>
            </a:r>
            <a:r>
              <a:rPr lang="fr-FR" dirty="0" smtClean="0"/>
              <a:t> !</a:t>
            </a:r>
          </a:p>
          <a:p>
            <a:pPr marL="0" indent="0">
              <a:buNone/>
            </a:pP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4282458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API synchrones</a:t>
            </a:r>
            <a:endParaRPr lang="fr-FR" dirty="0"/>
          </a:p>
        </p:txBody>
      </p:sp>
      <p:sp>
        <p:nvSpPr>
          <p:cNvPr id="3" name="Espace réservé du contenu 2"/>
          <p:cNvSpPr>
            <a:spLocks noGrp="1"/>
          </p:cNvSpPr>
          <p:nvPr>
            <p:ph idx="1"/>
          </p:nvPr>
        </p:nvSpPr>
        <p:spPr/>
        <p:txBody>
          <a:bodyPr>
            <a:normAutofit fontScale="85000" lnSpcReduction="20000"/>
          </a:bodyPr>
          <a:lstStyle/>
          <a:p>
            <a:pPr algn="just"/>
            <a:r>
              <a:rPr lang="fr-FR" dirty="0"/>
              <a:t>Les API synchrones répondent directement à une demande, fournissant généralement des données (ou une autre réponse appropriée) immédiatement</a:t>
            </a:r>
            <a:r>
              <a:rPr lang="fr-FR" dirty="0" smtClean="0"/>
              <a:t>.</a:t>
            </a:r>
          </a:p>
          <a:p>
            <a:pPr algn="just"/>
            <a:r>
              <a:rPr lang="fr-FR" dirty="0"/>
              <a:t>Les API sont </a:t>
            </a:r>
            <a:r>
              <a:rPr lang="fr-FR" dirty="0" smtClean="0"/>
              <a:t>conçues </a:t>
            </a:r>
            <a:r>
              <a:rPr lang="fr-FR" dirty="0"/>
              <a:t>pour être synchrones lorsque les données de la requête sont facilement disponibles, par exemple lorsque les données sont stockées dans une base de données ou dans une mémoire interne. Le serveur peut immédiatement récupérer ces données et répondre </a:t>
            </a:r>
            <a:r>
              <a:rPr lang="fr-FR" dirty="0" smtClean="0"/>
              <a:t>immédiatement.</a:t>
            </a:r>
            <a:endParaRPr lang="fr-FR" dirty="0" smtClean="0"/>
          </a:p>
          <a:p>
            <a:pPr algn="just"/>
            <a:r>
              <a:rPr lang="fr-FR" dirty="0"/>
              <a:t>L'application qui effectue la demande d'API doit attendre la réponse avant d'effectuer des tâches supplémentaires d'exécution de code.</a:t>
            </a:r>
            <a:endParaRPr lang="fr-FR" dirty="0" smtClean="0"/>
          </a:p>
          <a:p>
            <a:endParaRPr lang="fr-FR" dirty="0"/>
          </a:p>
          <a:p>
            <a:endParaRPr lang="fr-FR" dirty="0"/>
          </a:p>
        </p:txBody>
      </p:sp>
    </p:spTree>
    <p:extLst>
      <p:ext uri="{BB962C8B-B14F-4D97-AF65-F5344CB8AC3E}">
        <p14:creationId xmlns:p14="http://schemas.microsoft.com/office/powerpoint/2010/main" val="3674992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API asynchrones </a:t>
            </a:r>
            <a:endParaRPr lang="fr-FR" dirty="0"/>
          </a:p>
        </p:txBody>
      </p:sp>
      <p:sp>
        <p:nvSpPr>
          <p:cNvPr id="3" name="Espace réservé du contenu 2"/>
          <p:cNvSpPr>
            <a:spLocks noGrp="1"/>
          </p:cNvSpPr>
          <p:nvPr>
            <p:ph idx="1"/>
          </p:nvPr>
        </p:nvSpPr>
        <p:spPr>
          <a:xfrm>
            <a:off x="467544" y="1412776"/>
            <a:ext cx="8229600" cy="4824536"/>
          </a:xfrm>
        </p:spPr>
        <p:txBody>
          <a:bodyPr>
            <a:noAutofit/>
          </a:bodyPr>
          <a:lstStyle/>
          <a:p>
            <a:pPr algn="just"/>
            <a:r>
              <a:rPr lang="fr-FR" sz="2100" dirty="0" smtClean="0"/>
              <a:t>sont conçues </a:t>
            </a:r>
            <a:r>
              <a:rPr lang="fr-FR" sz="2100" dirty="0"/>
              <a:t>pour être asynchrones lorsque la requête est une action qui prend un certain temps pour le serveur ou si les données ne sont pas facilement disponibles. Par exemple, si le serveur doit faire une demande à un service distant pour récupérer les données, il ne peut pas garantir qu'il recevra les données immédiatement pour les renvoyer au client. </a:t>
            </a:r>
            <a:endParaRPr lang="fr-FR" sz="2100" dirty="0" smtClean="0"/>
          </a:p>
          <a:p>
            <a:pPr algn="just"/>
            <a:r>
              <a:rPr lang="fr-FR" sz="2100" dirty="0" smtClean="0"/>
              <a:t>Le </a:t>
            </a:r>
            <a:r>
              <a:rPr lang="fr-FR" sz="2100" dirty="0"/>
              <a:t>fait qu'une API est asynchrone ne signifie pas nécessairement que le client n'obtiendra pas les données immédiatement. Cela signifie seulement qu'une réponse immédiate avec des données n'est pas garantie</a:t>
            </a:r>
            <a:r>
              <a:rPr lang="fr-FR" sz="2100" dirty="0" smtClean="0"/>
              <a:t>.</a:t>
            </a:r>
          </a:p>
          <a:p>
            <a:pPr algn="just"/>
            <a:r>
              <a:rPr lang="fr-FR" sz="2100" dirty="0" smtClean="0"/>
              <a:t>Permettent </a:t>
            </a:r>
            <a:r>
              <a:rPr lang="fr-FR" sz="2100" dirty="0"/>
              <a:t>à l'application de poursuivre l'exécution sans être bloquée pendant le temps nécessaire au serveur pour traiter la demande</a:t>
            </a:r>
            <a:r>
              <a:rPr lang="fr-FR" sz="2100" dirty="0" smtClean="0"/>
              <a:t>.</a:t>
            </a:r>
          </a:p>
          <a:p>
            <a:pPr algn="just"/>
            <a:r>
              <a:rPr lang="fr-FR" sz="2100" dirty="0" smtClean="0"/>
              <a:t>Parfois</a:t>
            </a:r>
            <a:r>
              <a:rPr lang="fr-FR" sz="2100" dirty="0"/>
              <a:t>, le client </a:t>
            </a:r>
            <a:r>
              <a:rPr lang="fr-FR" sz="2100" dirty="0" smtClean="0"/>
              <a:t>doit/peut établir </a:t>
            </a:r>
            <a:r>
              <a:rPr lang="fr-FR" sz="2100" dirty="0"/>
              <a:t>un mécanisme d'écoute ou de rappel pour recevoir ces notifications et les traiter lorsqu'elles sont reçues.</a:t>
            </a:r>
          </a:p>
        </p:txBody>
      </p:sp>
    </p:spTree>
    <p:extLst>
      <p:ext uri="{BB962C8B-B14F-4D97-AF65-F5344CB8AC3E}">
        <p14:creationId xmlns:p14="http://schemas.microsoft.com/office/powerpoint/2010/main" val="1149058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Trois technologies d'API</a:t>
            </a:r>
            <a:endParaRPr lang="fr-FR" dirty="0"/>
          </a:p>
        </p:txBody>
      </p:sp>
      <p:sp>
        <p:nvSpPr>
          <p:cNvPr id="3" name="Espace réservé du contenu 2"/>
          <p:cNvSpPr>
            <a:spLocks noGrp="1"/>
          </p:cNvSpPr>
          <p:nvPr>
            <p:ph idx="1"/>
          </p:nvPr>
        </p:nvSpPr>
        <p:spPr/>
        <p:txBody>
          <a:bodyPr/>
          <a:lstStyle/>
          <a:p>
            <a:r>
              <a:rPr lang="fr-FR" dirty="0" smtClean="0"/>
              <a:t>RPC </a:t>
            </a:r>
            <a:r>
              <a:rPr lang="fr-FR" dirty="0" err="1" smtClean="0"/>
              <a:t>Remote</a:t>
            </a:r>
            <a:r>
              <a:rPr lang="fr-FR" dirty="0" smtClean="0"/>
              <a:t> </a:t>
            </a:r>
            <a:r>
              <a:rPr lang="fr-FR" dirty="0" err="1" smtClean="0"/>
              <a:t>Procedure</a:t>
            </a:r>
            <a:r>
              <a:rPr lang="fr-FR" dirty="0" smtClean="0"/>
              <a:t> Call, </a:t>
            </a:r>
          </a:p>
          <a:p>
            <a:r>
              <a:rPr lang="fr-FR" dirty="0" smtClean="0"/>
              <a:t>SOAP </a:t>
            </a:r>
            <a:r>
              <a:rPr lang="fr-FR" i="1" dirty="0"/>
              <a:t>Simple Object Access Protocol</a:t>
            </a:r>
            <a:endParaRPr lang="fr-FR" dirty="0" smtClean="0"/>
          </a:p>
          <a:p>
            <a:r>
              <a:rPr lang="fr-FR" dirty="0" smtClean="0"/>
              <a:t>REST </a:t>
            </a:r>
            <a:r>
              <a:rPr lang="fr-FR" b="1" dirty="0" err="1"/>
              <a:t>RE</a:t>
            </a:r>
            <a:r>
              <a:rPr lang="fr-FR" dirty="0" err="1"/>
              <a:t>présententational</a:t>
            </a:r>
            <a:r>
              <a:rPr lang="fr-FR" dirty="0"/>
              <a:t> </a:t>
            </a:r>
            <a:r>
              <a:rPr lang="fr-FR" b="1" dirty="0"/>
              <a:t>S</a:t>
            </a:r>
            <a:r>
              <a:rPr lang="fr-FR" dirty="0"/>
              <a:t>tate </a:t>
            </a:r>
            <a:r>
              <a:rPr lang="fr-FR" b="1" dirty="0"/>
              <a:t>T</a:t>
            </a:r>
            <a:r>
              <a:rPr lang="fr-FR" dirty="0"/>
              <a:t>ransfer</a:t>
            </a:r>
          </a:p>
        </p:txBody>
      </p:sp>
    </p:spTree>
    <p:extLst>
      <p:ext uri="{BB962C8B-B14F-4D97-AF65-F5344CB8AC3E}">
        <p14:creationId xmlns:p14="http://schemas.microsoft.com/office/powerpoint/2010/main" val="7892922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RPC  </a:t>
            </a:r>
            <a:r>
              <a:rPr lang="fr-FR" dirty="0" err="1" smtClean="0"/>
              <a:t>Remote</a:t>
            </a:r>
            <a:r>
              <a:rPr lang="fr-FR" dirty="0" smtClean="0"/>
              <a:t> </a:t>
            </a:r>
            <a:r>
              <a:rPr lang="fr-FR" dirty="0" err="1" smtClean="0"/>
              <a:t>Procedure</a:t>
            </a:r>
            <a:r>
              <a:rPr lang="fr-FR" dirty="0" smtClean="0"/>
              <a:t> Call () </a:t>
            </a:r>
            <a:endParaRPr lang="fr-FR" dirty="0"/>
          </a:p>
        </p:txBody>
      </p:sp>
      <p:sp>
        <p:nvSpPr>
          <p:cNvPr id="3" name="Espace réservé du contenu 2"/>
          <p:cNvSpPr>
            <a:spLocks noGrp="1"/>
          </p:cNvSpPr>
          <p:nvPr>
            <p:ph idx="1"/>
          </p:nvPr>
        </p:nvSpPr>
        <p:spPr/>
        <p:txBody>
          <a:bodyPr>
            <a:normAutofit lnSpcReduction="10000"/>
          </a:bodyPr>
          <a:lstStyle/>
          <a:p>
            <a:r>
              <a:rPr lang="fr-FR" dirty="0" smtClean="0"/>
              <a:t>modèle </a:t>
            </a:r>
            <a:r>
              <a:rPr lang="fr-FR" dirty="0"/>
              <a:t>requête-réponse qui permet à une application (agissant en tant que client) d'effectuer un appel de procédure à une autre application (agissant en tant que serveur). L'application «serveur» se trouve généralement sur un autre système du réseau</a:t>
            </a:r>
            <a:r>
              <a:rPr lang="fr-FR" dirty="0" smtClean="0"/>
              <a:t>.</a:t>
            </a:r>
          </a:p>
          <a:p>
            <a:r>
              <a:rPr lang="fr-FR" dirty="0"/>
              <a:t>pour un client, un appel de procédure distante est </a:t>
            </a:r>
            <a:r>
              <a:rPr lang="fr-FR" dirty="0" smtClean="0"/>
              <a:t>simplement une </a:t>
            </a:r>
            <a:r>
              <a:rPr lang="fr-FR" dirty="0"/>
              <a:t>méthode avec des arguments</a:t>
            </a:r>
          </a:p>
          <a:p>
            <a:endParaRPr lang="fr-FR" dirty="0"/>
          </a:p>
        </p:txBody>
      </p:sp>
    </p:spTree>
    <p:extLst>
      <p:ext uri="{BB962C8B-B14F-4D97-AF65-F5344CB8AC3E}">
        <p14:creationId xmlns:p14="http://schemas.microsoft.com/office/powerpoint/2010/main" val="136012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SOAP</a:t>
            </a:r>
            <a:endParaRPr lang="fr-FR" dirty="0"/>
          </a:p>
        </p:txBody>
      </p:sp>
      <p:sp>
        <p:nvSpPr>
          <p:cNvPr id="3" name="Espace réservé du contenu 2"/>
          <p:cNvSpPr>
            <a:spLocks noGrp="1"/>
          </p:cNvSpPr>
          <p:nvPr>
            <p:ph idx="1"/>
          </p:nvPr>
        </p:nvSpPr>
        <p:spPr/>
        <p:txBody>
          <a:bodyPr>
            <a:normAutofit fontScale="77500" lnSpcReduction="20000"/>
          </a:bodyPr>
          <a:lstStyle/>
          <a:p>
            <a:r>
              <a:rPr lang="fr-FR" i="1" dirty="0" smtClean="0"/>
              <a:t>Simple Object Access Protocol</a:t>
            </a:r>
            <a:endParaRPr lang="fr-FR" dirty="0" smtClean="0"/>
          </a:p>
          <a:p>
            <a:r>
              <a:rPr lang="fr-FR" dirty="0" smtClean="0"/>
              <a:t>Utilisé </a:t>
            </a:r>
            <a:r>
              <a:rPr lang="fr-FR" dirty="0"/>
              <a:t>pour communiquer entre des applications qui peuvent être sur différentes plates-formes ou construites avec différents langages de </a:t>
            </a:r>
            <a:r>
              <a:rPr lang="fr-FR" dirty="0" smtClean="0"/>
              <a:t>programmation, </a:t>
            </a:r>
          </a:p>
          <a:p>
            <a:r>
              <a:rPr lang="fr-FR" dirty="0" smtClean="0"/>
              <a:t>Protocole </a:t>
            </a:r>
            <a:r>
              <a:rPr lang="fr-FR" dirty="0"/>
              <a:t>basé sur XML </a:t>
            </a:r>
            <a:r>
              <a:rPr lang="fr-FR" dirty="0" smtClean="0"/>
              <a:t>initialement défini par Microsoft et IBM,</a:t>
            </a:r>
          </a:p>
          <a:p>
            <a:r>
              <a:rPr lang="fr-FR" dirty="0" smtClean="0"/>
              <a:t>Est </a:t>
            </a:r>
            <a:r>
              <a:rPr lang="fr-FR" dirty="0"/>
              <a:t>couramment utilisé avec le transport HTTP (HyperText Transfer Protocol), mais peut être appliqué à d'autres </a:t>
            </a:r>
            <a:r>
              <a:rPr lang="fr-FR" dirty="0" smtClean="0"/>
              <a:t>protocoles (</a:t>
            </a:r>
            <a:r>
              <a:rPr lang="fr-FR" dirty="0" err="1" smtClean="0"/>
              <a:t>smtp</a:t>
            </a:r>
            <a:r>
              <a:rPr lang="fr-FR" dirty="0" smtClean="0"/>
              <a:t> Simple Mail Transfert Protocol), </a:t>
            </a:r>
          </a:p>
          <a:p>
            <a:r>
              <a:rPr lang="fr-FR" dirty="0" smtClean="0"/>
              <a:t>SOAP </a:t>
            </a:r>
            <a:r>
              <a:rPr lang="fr-FR" dirty="0"/>
              <a:t>est </a:t>
            </a:r>
            <a:r>
              <a:rPr lang="fr-FR" dirty="0" smtClean="0"/>
              <a:t>indépendant et extensible mais une modification de l'API (côté serveur) implique une évolution côté client </a:t>
            </a:r>
            <a:r>
              <a:rPr lang="fr-FR" dirty="0" smtClean="0">
                <a:sym typeface="Wingdings" pitchFamily="2" charset="2"/>
              </a:rPr>
              <a:t></a:t>
            </a:r>
            <a:endParaRPr lang="fr-FR"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304" y="548680"/>
            <a:ext cx="1285875"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81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Parenthèse : définition </a:t>
            </a:r>
            <a:r>
              <a:rPr lang="fr-FR" b="1" dirty="0" smtClean="0"/>
              <a:t>ressource web</a:t>
            </a:r>
            <a:endParaRPr lang="fr-FR" b="1" dirty="0"/>
          </a:p>
        </p:txBody>
      </p:sp>
      <p:sp>
        <p:nvSpPr>
          <p:cNvPr id="3" name="Espace réservé du contenu 2"/>
          <p:cNvSpPr>
            <a:spLocks noGrp="1"/>
          </p:cNvSpPr>
          <p:nvPr>
            <p:ph idx="1"/>
          </p:nvPr>
        </p:nvSpPr>
        <p:spPr/>
        <p:txBody>
          <a:bodyPr>
            <a:normAutofit lnSpcReduction="10000"/>
          </a:bodyPr>
          <a:lstStyle/>
          <a:p>
            <a:pPr algn="just"/>
            <a:r>
              <a:rPr lang="fr-FR" dirty="0" smtClean="0"/>
              <a:t>Les ressources web ont été définies pour la première fois sur le World Wide Web comme des documents ou des fichiers identifiés par leur URL. </a:t>
            </a:r>
          </a:p>
          <a:p>
            <a:pPr algn="just"/>
            <a:r>
              <a:rPr lang="fr-FR" dirty="0" smtClean="0"/>
              <a:t>Aujourd'hui une ressource web est beaucoup plus générique et abstraite. Elle inclut </a:t>
            </a:r>
            <a:r>
              <a:rPr lang="fr-FR" b="1" dirty="0" smtClean="0"/>
              <a:t>toute chose ou entité pouvant être identifiée, nommée, adressée ou gérée d'une façon quelconque sur le web</a:t>
            </a:r>
            <a:r>
              <a:rPr lang="fr-FR" dirty="0" smtClean="0"/>
              <a:t>.</a:t>
            </a:r>
            <a:endParaRPr lang="fr-FR" dirty="0"/>
          </a:p>
        </p:txBody>
      </p:sp>
    </p:spTree>
    <p:extLst>
      <p:ext uri="{BB962C8B-B14F-4D97-AF65-F5344CB8AC3E}">
        <p14:creationId xmlns:p14="http://schemas.microsoft.com/office/powerpoint/2010/main" val="2112297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REST</a:t>
            </a:r>
            <a:br>
              <a:rPr lang="fr-FR" dirty="0" smtClean="0"/>
            </a:br>
            <a:r>
              <a:rPr lang="fr-FR" sz="3600" b="1" dirty="0" err="1" smtClean="0"/>
              <a:t>RE</a:t>
            </a:r>
            <a:r>
              <a:rPr lang="fr-FR" sz="3600" dirty="0" err="1" smtClean="0"/>
              <a:t>présententational</a:t>
            </a:r>
            <a:r>
              <a:rPr lang="fr-FR" sz="3600" dirty="0" smtClean="0"/>
              <a:t> </a:t>
            </a:r>
            <a:r>
              <a:rPr lang="fr-FR" sz="3600" b="1" dirty="0" smtClean="0"/>
              <a:t>S</a:t>
            </a:r>
            <a:r>
              <a:rPr lang="fr-FR" sz="3600" dirty="0" smtClean="0"/>
              <a:t>tate </a:t>
            </a:r>
            <a:r>
              <a:rPr lang="fr-FR" sz="3600" b="1" dirty="0" smtClean="0"/>
              <a:t>T</a:t>
            </a:r>
            <a:r>
              <a:rPr lang="fr-FR" sz="3600" dirty="0" smtClean="0"/>
              <a:t>ransfer</a:t>
            </a:r>
            <a:endParaRPr lang="fr-FR" dirty="0"/>
          </a:p>
        </p:txBody>
      </p:sp>
      <p:sp>
        <p:nvSpPr>
          <p:cNvPr id="3" name="Espace réservé du contenu 2"/>
          <p:cNvSpPr>
            <a:spLocks noGrp="1"/>
          </p:cNvSpPr>
          <p:nvPr>
            <p:ph idx="1"/>
          </p:nvPr>
        </p:nvSpPr>
        <p:spPr/>
        <p:txBody>
          <a:bodyPr>
            <a:normAutofit fontScale="92500"/>
          </a:bodyPr>
          <a:lstStyle/>
          <a:p>
            <a:r>
              <a:rPr lang="fr-FR" dirty="0" smtClean="0"/>
              <a:t>architecture logicielle définissant un ensemble de contraintes à utiliser pour créer des services web,</a:t>
            </a:r>
          </a:p>
          <a:p>
            <a:r>
              <a:rPr lang="fr-FR" dirty="0" smtClean="0"/>
              <a:t>Les services web conformes au style d'architecture REST, aussi appelés </a:t>
            </a:r>
            <a:r>
              <a:rPr lang="fr-FR" b="1" dirty="0" smtClean="0"/>
              <a:t>services web </a:t>
            </a:r>
            <a:r>
              <a:rPr lang="fr-FR" b="1" i="1" dirty="0" err="1" smtClean="0"/>
              <a:t>RESTful</a:t>
            </a:r>
            <a:r>
              <a:rPr lang="fr-FR" dirty="0" smtClean="0"/>
              <a:t>, </a:t>
            </a:r>
          </a:p>
          <a:p>
            <a:r>
              <a:rPr lang="fr-FR" dirty="0" smtClean="0"/>
              <a:t>le </a:t>
            </a:r>
            <a:r>
              <a:rPr lang="fr-FR" dirty="0"/>
              <a:t>système est composé de différentes couches hiérarchiques dans lesquelles chaque couche fournit des services uniquement à la couche au-dessus. </a:t>
            </a:r>
          </a:p>
        </p:txBody>
      </p:sp>
    </p:spTree>
    <p:extLst>
      <p:ext uri="{BB962C8B-B14F-4D97-AF65-F5344CB8AC3E}">
        <p14:creationId xmlns:p14="http://schemas.microsoft.com/office/powerpoint/2010/main" val="286868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services web REST </a:t>
            </a:r>
            <a:endParaRPr lang="fr-FR" dirty="0"/>
          </a:p>
        </p:txBody>
      </p:sp>
      <p:sp>
        <p:nvSpPr>
          <p:cNvPr id="3" name="Espace réservé du contenu 2"/>
          <p:cNvSpPr>
            <a:spLocks noGrp="1"/>
          </p:cNvSpPr>
          <p:nvPr>
            <p:ph idx="1"/>
          </p:nvPr>
        </p:nvSpPr>
        <p:spPr/>
        <p:txBody>
          <a:bodyPr>
            <a:normAutofit fontScale="85000" lnSpcReduction="20000"/>
          </a:bodyPr>
          <a:lstStyle/>
          <a:p>
            <a:r>
              <a:rPr lang="fr-FR" dirty="0" smtClean="0"/>
              <a:t>Permettent aux systèmes effectuant des requêtes de manipuler des ressources web via leurs représentations textuelles à travers un ensemble d'opérations uniformes et prédéfinies,</a:t>
            </a:r>
          </a:p>
          <a:p>
            <a:r>
              <a:rPr lang="fr-FR" dirty="0" smtClean="0"/>
              <a:t> Dans un service web REST, les requêtes effectuées sur l'URI d'une ressource produisent une réponse dont le corps est formaté en HTML, XML, JSON ou un autre format,</a:t>
            </a:r>
          </a:p>
          <a:p>
            <a:r>
              <a:rPr lang="fr-FR" dirty="0" smtClean="0"/>
              <a:t>La réponse peut confirmer que la ressource stockée a été altérée et elle peut fournir des liens hypertextes vers d'autres ressources ou collection de ressources liées,</a:t>
            </a:r>
          </a:p>
          <a:p>
            <a:endParaRPr lang="fr-FR" dirty="0"/>
          </a:p>
        </p:txBody>
      </p:sp>
    </p:spTree>
    <p:extLst>
      <p:ext uri="{BB962C8B-B14F-4D97-AF65-F5344CB8AC3E}">
        <p14:creationId xmlns:p14="http://schemas.microsoft.com/office/powerpoint/2010/main" val="2072204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 </a:t>
            </a:r>
            <a:r>
              <a:rPr lang="fr-FR" dirty="0" err="1" smtClean="0"/>
              <a:t>token</a:t>
            </a:r>
            <a:endParaRPr lang="fr-FR" dirty="0"/>
          </a:p>
        </p:txBody>
      </p:sp>
      <p:sp>
        <p:nvSpPr>
          <p:cNvPr id="3" name="Espace réservé du contenu 2"/>
          <p:cNvSpPr>
            <a:spLocks noGrp="1"/>
          </p:cNvSpPr>
          <p:nvPr>
            <p:ph idx="1"/>
          </p:nvPr>
        </p:nvSpPr>
        <p:spPr/>
        <p:txBody>
          <a:bodyPr/>
          <a:lstStyle/>
          <a:p>
            <a:r>
              <a:rPr lang="fr-FR" dirty="0"/>
              <a:t>Pour </a:t>
            </a:r>
            <a:r>
              <a:rPr lang="fr-FR" dirty="0" smtClean="0"/>
              <a:t>de nombreuses API </a:t>
            </a:r>
            <a:r>
              <a:rPr lang="fr-FR" dirty="0"/>
              <a:t>disponibles sur le net, il </a:t>
            </a:r>
            <a:r>
              <a:rPr lang="fr-FR" dirty="0" smtClean="0"/>
              <a:t>est demandé </a:t>
            </a:r>
            <a:r>
              <a:rPr lang="fr-FR" dirty="0"/>
              <a:t>de </a:t>
            </a:r>
            <a:r>
              <a:rPr lang="fr-FR" dirty="0" smtClean="0"/>
              <a:t>s'</a:t>
            </a:r>
            <a:r>
              <a:rPr lang="fr-FR" b="1" dirty="0" smtClean="0"/>
              <a:t>inscrire</a:t>
            </a:r>
            <a:r>
              <a:rPr lang="fr-FR" dirty="0" smtClean="0"/>
              <a:t> </a:t>
            </a:r>
            <a:r>
              <a:rPr lang="fr-FR" dirty="0"/>
              <a:t>au préalable afin d’obtenir une </a:t>
            </a:r>
            <a:r>
              <a:rPr lang="fr-FR" b="1" dirty="0"/>
              <a:t>clé</a:t>
            </a:r>
            <a:r>
              <a:rPr lang="fr-FR" dirty="0"/>
              <a:t> ou </a:t>
            </a:r>
            <a:r>
              <a:rPr lang="fr-FR" b="1" i="1" dirty="0" err="1"/>
              <a:t>token</a:t>
            </a:r>
            <a:r>
              <a:rPr lang="fr-FR" dirty="0"/>
              <a:t> permettant d’accéder aux données, aussi appelés </a:t>
            </a:r>
            <a:r>
              <a:rPr lang="fr-FR" i="1" dirty="0"/>
              <a:t>ressources</a:t>
            </a:r>
            <a:r>
              <a:rPr lang="fr-FR" dirty="0"/>
              <a:t>. </a:t>
            </a:r>
            <a:r>
              <a:rPr lang="fr-FR" dirty="0" smtClean="0"/>
              <a:t/>
            </a:r>
            <a:br>
              <a:rPr lang="fr-FR" dirty="0" smtClean="0"/>
            </a:br>
            <a:r>
              <a:rPr lang="fr-FR" dirty="0" smtClean="0"/>
              <a:t>Cette </a:t>
            </a:r>
            <a:r>
              <a:rPr lang="fr-FR" dirty="0"/>
              <a:t>clé peut être un identifiant/mot de passe, une suite de caractères ou une suite de nombres.</a:t>
            </a:r>
          </a:p>
        </p:txBody>
      </p:sp>
    </p:spTree>
    <p:extLst>
      <p:ext uri="{BB962C8B-B14F-4D97-AF65-F5344CB8AC3E}">
        <p14:creationId xmlns:p14="http://schemas.microsoft.com/office/powerpoint/2010/main" val="23969052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contraintes de REST</a:t>
            </a:r>
            <a:endParaRPr lang="fr-FR" dirty="0"/>
          </a:p>
        </p:txBody>
      </p:sp>
      <p:sp>
        <p:nvSpPr>
          <p:cNvPr id="3" name="Espace réservé du contenu 2"/>
          <p:cNvSpPr>
            <a:spLocks noGrp="1"/>
          </p:cNvSpPr>
          <p:nvPr>
            <p:ph idx="1"/>
          </p:nvPr>
        </p:nvSpPr>
        <p:spPr/>
        <p:txBody>
          <a:bodyPr>
            <a:normAutofit fontScale="92500" lnSpcReduction="20000"/>
          </a:bodyPr>
          <a:lstStyle/>
          <a:p>
            <a:r>
              <a:rPr lang="fr-FR" dirty="0" smtClean="0"/>
              <a:t>Six contraintes architecturales définissent un système REST. </a:t>
            </a:r>
          </a:p>
          <a:p>
            <a:r>
              <a:rPr lang="fr-FR" dirty="0" smtClean="0"/>
              <a:t>Ces contraintes restreignent la façon dont le serveur peut traiter et répondre aux requêtes du client afin que, le système gagne en performances au niveau de l'extensibilité de la simplicité de l'évolutivité de la visibilité de la portabilité et de la fiabilité</a:t>
            </a:r>
            <a:endParaRPr lang="fr-FR" baseline="30000" dirty="0" smtClean="0"/>
          </a:p>
          <a:p>
            <a:r>
              <a:rPr lang="fr-FR" dirty="0" smtClean="0"/>
              <a:t>Un système qui viole une de ces contraintes ne peut pas être considéré comme adhérant à l'architecture REST ; il n'est pas </a:t>
            </a:r>
            <a:r>
              <a:rPr lang="fr-FR" dirty="0" err="1" smtClean="0"/>
              <a:t>RestFull</a:t>
            </a:r>
            <a:r>
              <a:rPr lang="fr-FR" dirty="0" smtClean="0"/>
              <a:t>. </a:t>
            </a:r>
            <a:endParaRPr lang="fr-FR" dirty="0"/>
          </a:p>
        </p:txBody>
      </p:sp>
    </p:spTree>
    <p:extLst>
      <p:ext uri="{BB962C8B-B14F-4D97-AF65-F5344CB8AC3E}">
        <p14:creationId xmlns:p14="http://schemas.microsoft.com/office/powerpoint/2010/main" val="163031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smtClean="0"/>
              <a:t>Les 6 contraintes</a:t>
            </a:r>
            <a:endParaRPr lang="fr-FR" dirty="0"/>
          </a:p>
        </p:txBody>
      </p:sp>
      <p:sp>
        <p:nvSpPr>
          <p:cNvPr id="3" name="Espace réservé du contenu 2"/>
          <p:cNvSpPr>
            <a:spLocks noGrp="1"/>
          </p:cNvSpPr>
          <p:nvPr>
            <p:ph idx="1"/>
          </p:nvPr>
        </p:nvSpPr>
        <p:spPr/>
        <p:txBody>
          <a:bodyPr>
            <a:normAutofit/>
          </a:bodyPr>
          <a:lstStyle/>
          <a:p>
            <a:pPr lvl="0"/>
            <a:r>
              <a:rPr lang="fr-FR" dirty="0" smtClean="0"/>
              <a:t>Client-serveur </a:t>
            </a:r>
          </a:p>
          <a:p>
            <a:pPr lvl="0"/>
            <a:r>
              <a:rPr lang="fr-FR" dirty="0" smtClean="0"/>
              <a:t>Statique, sans état </a:t>
            </a:r>
          </a:p>
          <a:p>
            <a:pPr lvl="0"/>
            <a:r>
              <a:rPr lang="fr-FR" dirty="0" smtClean="0"/>
              <a:t>Mémoire cache, avec mise en cache</a:t>
            </a:r>
            <a:endParaRPr lang="fr-FR" dirty="0"/>
          </a:p>
          <a:p>
            <a:pPr lvl="0"/>
            <a:r>
              <a:rPr lang="fr-FR" dirty="0"/>
              <a:t>Interface uniforme</a:t>
            </a:r>
          </a:p>
          <a:p>
            <a:pPr lvl="0"/>
            <a:r>
              <a:rPr lang="fr-FR" dirty="0"/>
              <a:t>Système en couches</a:t>
            </a:r>
          </a:p>
          <a:p>
            <a:r>
              <a:rPr lang="fr-FR" dirty="0"/>
              <a:t>Code à la demande</a:t>
            </a:r>
          </a:p>
        </p:txBody>
      </p:sp>
    </p:spTree>
    <p:extLst>
      <p:ext uri="{BB962C8B-B14F-4D97-AF65-F5344CB8AC3E}">
        <p14:creationId xmlns:p14="http://schemas.microsoft.com/office/powerpoint/2010/main" val="9049675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Contrainte Client-serveur</a:t>
            </a:r>
            <a:endParaRPr lang="fr-FR" dirty="0"/>
          </a:p>
        </p:txBody>
      </p:sp>
      <p:sp>
        <p:nvSpPr>
          <p:cNvPr id="3" name="Espace réservé du contenu 2"/>
          <p:cNvSpPr>
            <a:spLocks noGrp="1"/>
          </p:cNvSpPr>
          <p:nvPr>
            <p:ph idx="1"/>
          </p:nvPr>
        </p:nvSpPr>
        <p:spPr/>
        <p:txBody>
          <a:bodyPr>
            <a:normAutofit/>
          </a:bodyPr>
          <a:lstStyle/>
          <a:p>
            <a:pPr lvl="0"/>
            <a:r>
              <a:rPr lang="fr-FR" dirty="0" smtClean="0"/>
              <a:t>Les responsabilités sont séparées entre le client et le serveur. </a:t>
            </a:r>
            <a:endParaRPr lang="fr-FR" dirty="0"/>
          </a:p>
        </p:txBody>
      </p:sp>
    </p:spTree>
    <p:extLst>
      <p:ext uri="{BB962C8B-B14F-4D97-AF65-F5344CB8AC3E}">
        <p14:creationId xmlns:p14="http://schemas.microsoft.com/office/powerpoint/2010/main" val="24739315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Contrainte Statique ou sans état </a:t>
            </a:r>
            <a:endParaRPr lang="fr-FR" dirty="0"/>
          </a:p>
        </p:txBody>
      </p:sp>
      <p:sp>
        <p:nvSpPr>
          <p:cNvPr id="3" name="Espace réservé du contenu 2"/>
          <p:cNvSpPr>
            <a:spLocks noGrp="1"/>
          </p:cNvSpPr>
          <p:nvPr>
            <p:ph idx="1"/>
          </p:nvPr>
        </p:nvSpPr>
        <p:spPr/>
        <p:txBody>
          <a:bodyPr>
            <a:normAutofit/>
          </a:bodyPr>
          <a:lstStyle/>
          <a:p>
            <a:pPr lvl="0"/>
            <a:r>
              <a:rPr lang="fr-FR" dirty="0" smtClean="0"/>
              <a:t>La communication client–serveur s'effectue sans conservation de l'état de la session de communication sur le serveur entre deux requêtes successives. </a:t>
            </a:r>
          </a:p>
          <a:p>
            <a:pPr lvl="0"/>
            <a:r>
              <a:rPr lang="fr-FR" dirty="0"/>
              <a:t>chaque requête </a:t>
            </a:r>
            <a:r>
              <a:rPr lang="fr-FR" dirty="0" smtClean="0"/>
              <a:t>doit donc </a:t>
            </a:r>
            <a:r>
              <a:rPr lang="fr-FR" dirty="0"/>
              <a:t>contenir toutes les informations nécessaires pour être comprise (aucune donnée n'est conservée entre les requêtes)</a:t>
            </a:r>
            <a:endParaRPr lang="fr-FR" dirty="0"/>
          </a:p>
        </p:txBody>
      </p:sp>
    </p:spTree>
    <p:extLst>
      <p:ext uri="{BB962C8B-B14F-4D97-AF65-F5344CB8AC3E}">
        <p14:creationId xmlns:p14="http://schemas.microsoft.com/office/powerpoint/2010/main" val="2473931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Contrainte Mémoire cache ou avec mise en cache </a:t>
            </a:r>
            <a:endParaRPr lang="fr-FR" dirty="0"/>
          </a:p>
        </p:txBody>
      </p:sp>
      <p:sp>
        <p:nvSpPr>
          <p:cNvPr id="3" name="Espace réservé du contenu 2"/>
          <p:cNvSpPr>
            <a:spLocks noGrp="1"/>
          </p:cNvSpPr>
          <p:nvPr>
            <p:ph idx="1"/>
          </p:nvPr>
        </p:nvSpPr>
        <p:spPr/>
        <p:txBody>
          <a:bodyPr>
            <a:normAutofit fontScale="85000" lnSpcReduction="10000"/>
          </a:bodyPr>
          <a:lstStyle/>
          <a:p>
            <a:pPr lvl="0"/>
            <a:r>
              <a:rPr lang="fr-FR" dirty="0" smtClean="0"/>
              <a:t>Les clients et les serveurs intermédiaires peuvent mettre en cache les réponses. </a:t>
            </a:r>
          </a:p>
          <a:p>
            <a:pPr lvl="0"/>
            <a:r>
              <a:rPr lang="fr-FR" dirty="0" smtClean="0"/>
              <a:t>Les réponses doivent donc, implicitement ou explicitement, se définir comme pouvant être mise en cache ou non, afin d'empêcher les clients de récupérer des données obsolètes ou inappropriées en réponse à des requêtes ultérieures. </a:t>
            </a:r>
          </a:p>
          <a:p>
            <a:pPr lvl="0"/>
            <a:r>
              <a:rPr lang="fr-FR" dirty="0" smtClean="0"/>
              <a:t>Une mise en cache bien gérée élimine partiellement voire totalement certaines interactions client–serveur, améliorant davantage l'extensibilité et la performance du système. </a:t>
            </a:r>
            <a:endParaRPr lang="fr-FR"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8184" y="908720"/>
            <a:ext cx="2698825" cy="48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39315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a:t>
            </a:r>
            <a:r>
              <a:rPr lang="fr-FR" dirty="0"/>
              <a:t> </a:t>
            </a:r>
            <a:r>
              <a:rPr lang="fr-FR" dirty="0" smtClean="0"/>
              <a:t>:</a:t>
            </a:r>
            <a:endParaRPr lang="fr-FR" dirty="0"/>
          </a:p>
        </p:txBody>
      </p:sp>
      <p:sp>
        <p:nvSpPr>
          <p:cNvPr id="3" name="Espace réservé du contenu 2"/>
          <p:cNvSpPr>
            <a:spLocks noGrp="1"/>
          </p:cNvSpPr>
          <p:nvPr>
            <p:ph sz="half" idx="1"/>
          </p:nvPr>
        </p:nvSpPr>
        <p:spPr>
          <a:xfrm>
            <a:off x="457200" y="1268760"/>
            <a:ext cx="4038600" cy="4857403"/>
          </a:xfrm>
        </p:spPr>
        <p:txBody>
          <a:bodyPr>
            <a:noAutofit/>
          </a:bodyPr>
          <a:lstStyle/>
          <a:p>
            <a:r>
              <a:rPr lang="fr-FR" sz="1000" b="1" dirty="0" smtClean="0"/>
              <a:t>1. La requête GET demande une ressource </a:t>
            </a:r>
            <a:r>
              <a:rPr lang="fr-FR" sz="1000" b="1" dirty="0" err="1" smtClean="0"/>
              <a:t>account</a:t>
            </a:r>
            <a:r>
              <a:rPr lang="fr-FR" sz="1000" b="1" dirty="0" smtClean="0"/>
              <a:t>, demandant des détails dans une représentation XML :</a:t>
            </a:r>
          </a:p>
          <a:p>
            <a:endParaRPr lang="fr-FR" sz="1000" dirty="0" smtClean="0"/>
          </a:p>
          <a:p>
            <a:pPr marL="0" indent="0">
              <a:buNone/>
            </a:pPr>
            <a:r>
              <a:rPr lang="fr-FR" sz="1000" dirty="0" smtClean="0"/>
              <a:t>GET /</a:t>
            </a:r>
            <a:r>
              <a:rPr lang="fr-FR" sz="1000" dirty="0" err="1" smtClean="0"/>
              <a:t>accounts</a:t>
            </a:r>
            <a:r>
              <a:rPr lang="fr-FR" sz="1000" dirty="0" smtClean="0"/>
              <a:t>/12345/ HTTP/1.1</a:t>
            </a:r>
          </a:p>
          <a:p>
            <a:pPr marL="0" indent="0">
              <a:buNone/>
            </a:pPr>
            <a:r>
              <a:rPr lang="fr-FR" sz="1000" dirty="0" smtClean="0"/>
              <a:t>Host: bank.example.com</a:t>
            </a:r>
          </a:p>
          <a:p>
            <a:pPr marL="0" indent="0">
              <a:buNone/>
            </a:pPr>
            <a:r>
              <a:rPr lang="fr-FR" sz="1000" dirty="0" err="1" smtClean="0"/>
              <a:t>Accept</a:t>
            </a:r>
            <a:r>
              <a:rPr lang="fr-FR" sz="1000" dirty="0" smtClean="0"/>
              <a:t>: application/</a:t>
            </a:r>
            <a:r>
              <a:rPr lang="fr-FR" sz="1000" dirty="0" err="1" smtClean="0"/>
              <a:t>xml</a:t>
            </a:r>
            <a:endParaRPr lang="fr-FR" sz="1000" dirty="0" smtClean="0"/>
          </a:p>
          <a:p>
            <a:pPr marL="0" indent="0">
              <a:buNone/>
            </a:pPr>
            <a:r>
              <a:rPr lang="fr-FR" sz="1000" dirty="0" smtClean="0"/>
              <a:t>...</a:t>
            </a:r>
          </a:p>
          <a:p>
            <a:pPr marL="0" indent="0">
              <a:buNone/>
            </a:pPr>
            <a:endParaRPr lang="fr-FR" sz="1000" dirty="0"/>
          </a:p>
          <a:p>
            <a:r>
              <a:rPr lang="fr-FR" sz="1000" b="1" dirty="0" smtClean="0"/>
              <a:t>2. La réponse est :</a:t>
            </a:r>
          </a:p>
          <a:p>
            <a:endParaRPr lang="fr-FR" sz="1000" dirty="0" smtClean="0"/>
          </a:p>
          <a:p>
            <a:pPr marL="0" indent="0">
              <a:buNone/>
            </a:pPr>
            <a:r>
              <a:rPr lang="fr-FR" sz="1000" dirty="0" smtClean="0"/>
              <a:t>HTTP/1.1 200 OK</a:t>
            </a:r>
          </a:p>
          <a:p>
            <a:pPr marL="0" indent="0">
              <a:buNone/>
            </a:pPr>
            <a:r>
              <a:rPr lang="fr-FR" sz="1000" dirty="0" smtClean="0"/>
              <a:t>Content-Type: application/</a:t>
            </a:r>
            <a:r>
              <a:rPr lang="fr-FR" sz="1000" dirty="0" err="1" smtClean="0"/>
              <a:t>xml</a:t>
            </a:r>
            <a:endParaRPr lang="fr-FR" sz="1000" dirty="0" smtClean="0"/>
          </a:p>
          <a:p>
            <a:pPr marL="0" indent="0">
              <a:buNone/>
            </a:pPr>
            <a:r>
              <a:rPr lang="fr-FR" sz="1000" dirty="0" smtClean="0"/>
              <a:t>Content-</a:t>
            </a:r>
            <a:r>
              <a:rPr lang="fr-FR" sz="1000" dirty="0" err="1" smtClean="0"/>
              <a:t>Length</a:t>
            </a:r>
            <a:r>
              <a:rPr lang="fr-FR" sz="1000" dirty="0" smtClean="0"/>
              <a:t>: ...</a:t>
            </a:r>
          </a:p>
          <a:p>
            <a:pPr marL="0" indent="0">
              <a:buNone/>
            </a:pPr>
            <a:endParaRPr lang="fr-FR" sz="1000" dirty="0" smtClean="0"/>
          </a:p>
          <a:p>
            <a:pPr marL="0" indent="0">
              <a:buNone/>
            </a:pPr>
            <a:r>
              <a:rPr lang="fr-FR" sz="1000" dirty="0" smtClean="0"/>
              <a:t>&lt;?</a:t>
            </a:r>
            <a:r>
              <a:rPr lang="fr-FR" sz="1000" dirty="0" err="1" smtClean="0"/>
              <a:t>xml</a:t>
            </a:r>
            <a:r>
              <a:rPr lang="fr-FR" sz="1000" dirty="0" smtClean="0"/>
              <a:t> version="1.0"?&gt;</a:t>
            </a:r>
          </a:p>
          <a:p>
            <a:pPr marL="0" indent="0">
              <a:buNone/>
            </a:pPr>
            <a:r>
              <a:rPr lang="fr-FR" sz="1000" dirty="0" smtClean="0"/>
              <a:t>&lt;</a:t>
            </a:r>
            <a:r>
              <a:rPr lang="fr-FR" sz="1000" dirty="0" err="1" smtClean="0"/>
              <a:t>account</a:t>
            </a:r>
            <a:r>
              <a:rPr lang="fr-FR" sz="1000" dirty="0" smtClean="0"/>
              <a:t>&gt;</a:t>
            </a:r>
          </a:p>
          <a:p>
            <a:pPr marL="0" indent="0">
              <a:buNone/>
            </a:pPr>
            <a:r>
              <a:rPr lang="fr-FR" sz="1000" dirty="0" smtClean="0"/>
              <a:t>    &lt;</a:t>
            </a:r>
            <a:r>
              <a:rPr lang="fr-FR" sz="1000" dirty="0" err="1" smtClean="0"/>
              <a:t>account_number</a:t>
            </a:r>
            <a:r>
              <a:rPr lang="fr-FR" sz="1000" dirty="0" smtClean="0"/>
              <a:t>&gt;12345&lt;/</a:t>
            </a:r>
            <a:r>
              <a:rPr lang="fr-FR" sz="1000" dirty="0" err="1" smtClean="0"/>
              <a:t>account_number</a:t>
            </a:r>
            <a:r>
              <a:rPr lang="fr-FR" sz="1000" dirty="0" smtClean="0"/>
              <a:t>&gt;</a:t>
            </a:r>
          </a:p>
          <a:p>
            <a:pPr marL="0" indent="0">
              <a:buNone/>
            </a:pPr>
            <a:r>
              <a:rPr lang="fr-FR" sz="1000" dirty="0" smtClean="0"/>
              <a:t>    &lt;balance </a:t>
            </a:r>
            <a:r>
              <a:rPr lang="fr-FR" sz="1000" dirty="0" err="1" smtClean="0"/>
              <a:t>currency</a:t>
            </a:r>
            <a:r>
              <a:rPr lang="fr-FR" sz="1000" dirty="0" smtClean="0"/>
              <a:t>="</a:t>
            </a:r>
            <a:r>
              <a:rPr lang="fr-FR" sz="1000" dirty="0" err="1" smtClean="0"/>
              <a:t>usd</a:t>
            </a:r>
            <a:r>
              <a:rPr lang="fr-FR" sz="1000" dirty="0" smtClean="0"/>
              <a:t>"&gt;100.00&lt;/balance&gt;</a:t>
            </a:r>
          </a:p>
          <a:p>
            <a:pPr marL="0" indent="0">
              <a:buNone/>
            </a:pPr>
            <a:r>
              <a:rPr lang="fr-FR" sz="1000" dirty="0" smtClean="0"/>
              <a:t>    &lt;</a:t>
            </a:r>
            <a:r>
              <a:rPr lang="fr-FR" sz="1000" dirty="0" err="1" smtClean="0"/>
              <a:t>link</a:t>
            </a:r>
            <a:r>
              <a:rPr lang="fr-FR" sz="1000" dirty="0" smtClean="0"/>
              <a:t> </a:t>
            </a:r>
            <a:r>
              <a:rPr lang="fr-FR" sz="1000" dirty="0" err="1" smtClean="0"/>
              <a:t>rel</a:t>
            </a:r>
            <a:r>
              <a:rPr lang="fr-FR" sz="1000" dirty="0" smtClean="0"/>
              <a:t>="</a:t>
            </a:r>
            <a:r>
              <a:rPr lang="fr-FR" sz="1000" dirty="0" err="1" smtClean="0"/>
              <a:t>deposit</a:t>
            </a:r>
            <a:r>
              <a:rPr lang="fr-FR" sz="1000" dirty="0" smtClean="0"/>
              <a:t>" </a:t>
            </a:r>
            <a:r>
              <a:rPr lang="fr-FR" sz="1000" dirty="0" err="1" smtClean="0"/>
              <a:t>href</a:t>
            </a:r>
            <a:r>
              <a:rPr lang="fr-FR" sz="1000" dirty="0" smtClean="0"/>
              <a:t>="/</a:t>
            </a:r>
            <a:r>
              <a:rPr lang="fr-FR" sz="1000" dirty="0" err="1" smtClean="0"/>
              <a:t>accounts</a:t>
            </a:r>
            <a:r>
              <a:rPr lang="fr-FR" sz="1000" dirty="0" smtClean="0"/>
              <a:t>/12345/</a:t>
            </a:r>
            <a:r>
              <a:rPr lang="fr-FR" sz="1000" dirty="0" err="1" smtClean="0"/>
              <a:t>deposit</a:t>
            </a:r>
            <a:r>
              <a:rPr lang="fr-FR" sz="1000" dirty="0" smtClean="0"/>
              <a:t>" /&gt;</a:t>
            </a:r>
          </a:p>
          <a:p>
            <a:pPr marL="0" indent="0">
              <a:buNone/>
            </a:pPr>
            <a:r>
              <a:rPr lang="fr-FR" sz="1000" dirty="0" smtClean="0"/>
              <a:t>    &lt;</a:t>
            </a:r>
            <a:r>
              <a:rPr lang="fr-FR" sz="1000" dirty="0" err="1" smtClean="0"/>
              <a:t>link</a:t>
            </a:r>
            <a:r>
              <a:rPr lang="fr-FR" sz="1000" dirty="0" smtClean="0"/>
              <a:t> </a:t>
            </a:r>
            <a:r>
              <a:rPr lang="fr-FR" sz="1000" dirty="0" err="1" smtClean="0"/>
              <a:t>rel</a:t>
            </a:r>
            <a:r>
              <a:rPr lang="fr-FR" sz="1000" dirty="0" smtClean="0"/>
              <a:t>="</a:t>
            </a:r>
            <a:r>
              <a:rPr lang="fr-FR" sz="1000" dirty="0" err="1" smtClean="0"/>
              <a:t>withdraw</a:t>
            </a:r>
            <a:r>
              <a:rPr lang="fr-FR" sz="1000" dirty="0" smtClean="0"/>
              <a:t>" </a:t>
            </a:r>
            <a:r>
              <a:rPr lang="fr-FR" sz="1000" dirty="0" err="1" smtClean="0"/>
              <a:t>href</a:t>
            </a:r>
            <a:r>
              <a:rPr lang="fr-FR" sz="1000" dirty="0" smtClean="0"/>
              <a:t>="/</a:t>
            </a:r>
            <a:r>
              <a:rPr lang="fr-FR" sz="1000" dirty="0" err="1" smtClean="0"/>
              <a:t>accounts</a:t>
            </a:r>
            <a:r>
              <a:rPr lang="fr-FR" sz="1000" dirty="0" smtClean="0"/>
              <a:t>/12345/</a:t>
            </a:r>
            <a:r>
              <a:rPr lang="fr-FR" sz="1000" dirty="0" err="1" smtClean="0"/>
              <a:t>withdraw</a:t>
            </a:r>
            <a:r>
              <a:rPr lang="fr-FR" sz="1000" dirty="0" smtClean="0"/>
              <a:t>" /&gt; </a:t>
            </a:r>
          </a:p>
          <a:p>
            <a:pPr marL="0" indent="0">
              <a:buNone/>
            </a:pPr>
            <a:r>
              <a:rPr lang="fr-FR" sz="1000" dirty="0" smtClean="0"/>
              <a:t>    &lt;</a:t>
            </a:r>
            <a:r>
              <a:rPr lang="fr-FR" sz="1000" dirty="0" err="1" smtClean="0"/>
              <a:t>link</a:t>
            </a:r>
            <a:r>
              <a:rPr lang="fr-FR" sz="1000" dirty="0" smtClean="0"/>
              <a:t> </a:t>
            </a:r>
            <a:r>
              <a:rPr lang="fr-FR" sz="1000" dirty="0" err="1" smtClean="0"/>
              <a:t>rel</a:t>
            </a:r>
            <a:r>
              <a:rPr lang="fr-FR" sz="1000" dirty="0" smtClean="0"/>
              <a:t>="</a:t>
            </a:r>
            <a:r>
              <a:rPr lang="fr-FR" sz="1000" dirty="0" err="1" smtClean="0"/>
              <a:t>transfer</a:t>
            </a:r>
            <a:r>
              <a:rPr lang="fr-FR" sz="1000" dirty="0" smtClean="0"/>
              <a:t>" </a:t>
            </a:r>
            <a:r>
              <a:rPr lang="fr-FR" sz="1000" dirty="0" err="1" smtClean="0"/>
              <a:t>href</a:t>
            </a:r>
            <a:r>
              <a:rPr lang="fr-FR" sz="1000" dirty="0" smtClean="0"/>
              <a:t>="https://bank.example.com/accounts/12345/transfer" /&gt;</a:t>
            </a:r>
          </a:p>
          <a:p>
            <a:pPr marL="0" indent="0">
              <a:buNone/>
            </a:pPr>
            <a:r>
              <a:rPr lang="fr-FR" sz="1000" dirty="0" smtClean="0"/>
              <a:t>    &lt;</a:t>
            </a:r>
            <a:r>
              <a:rPr lang="fr-FR" sz="1000" dirty="0" err="1" smtClean="0"/>
              <a:t>link</a:t>
            </a:r>
            <a:r>
              <a:rPr lang="fr-FR" sz="1000" dirty="0" smtClean="0"/>
              <a:t> </a:t>
            </a:r>
            <a:r>
              <a:rPr lang="fr-FR" sz="1000" dirty="0" err="1" smtClean="0"/>
              <a:t>rel</a:t>
            </a:r>
            <a:r>
              <a:rPr lang="fr-FR" sz="1000" dirty="0" smtClean="0"/>
              <a:t>="close" </a:t>
            </a:r>
            <a:r>
              <a:rPr lang="fr-FR" sz="1000" dirty="0" err="1" smtClean="0"/>
              <a:t>href</a:t>
            </a:r>
            <a:r>
              <a:rPr lang="fr-FR" sz="1000" dirty="0" smtClean="0"/>
              <a:t>="https://bank.example.com/accounts/12345/close" /&gt;</a:t>
            </a:r>
          </a:p>
          <a:p>
            <a:pPr marL="0" indent="0">
              <a:buNone/>
            </a:pPr>
            <a:r>
              <a:rPr lang="fr-FR" sz="1000" dirty="0" smtClean="0"/>
              <a:t>&lt;/</a:t>
            </a:r>
            <a:r>
              <a:rPr lang="fr-FR" sz="1000" dirty="0" err="1" smtClean="0"/>
              <a:t>account</a:t>
            </a:r>
            <a:r>
              <a:rPr lang="fr-FR" sz="1000" dirty="0" smtClean="0"/>
              <a:t>&gt;</a:t>
            </a:r>
          </a:p>
          <a:p>
            <a:endParaRPr lang="fr-FR" sz="1000" dirty="0" smtClean="0"/>
          </a:p>
          <a:p>
            <a:r>
              <a:rPr lang="fr-FR" sz="1000" dirty="0" smtClean="0"/>
              <a:t>La réponse contient les liens suivants : </a:t>
            </a:r>
            <a:r>
              <a:rPr lang="fr-FR" sz="1000" dirty="0" err="1" smtClean="0"/>
              <a:t>deposit</a:t>
            </a:r>
            <a:r>
              <a:rPr lang="fr-FR" sz="1000" dirty="0" smtClean="0"/>
              <a:t> (effectuer un dépôt), </a:t>
            </a:r>
            <a:r>
              <a:rPr lang="fr-FR" sz="1000" dirty="0" err="1" smtClean="0"/>
              <a:t>withdraw</a:t>
            </a:r>
            <a:r>
              <a:rPr lang="fr-FR" sz="1000" dirty="0" smtClean="0"/>
              <a:t> (effectuer un retrait), </a:t>
            </a:r>
            <a:r>
              <a:rPr lang="fr-FR" sz="1000" dirty="0" err="1" smtClean="0"/>
              <a:t>transfer</a:t>
            </a:r>
            <a:r>
              <a:rPr lang="fr-FR" sz="1000" dirty="0" smtClean="0"/>
              <a:t> (effectuer un transfert), ou close (clôturer le compte). </a:t>
            </a:r>
          </a:p>
          <a:p>
            <a:endParaRPr lang="fr-FR" sz="1000" dirty="0" smtClean="0"/>
          </a:p>
        </p:txBody>
      </p:sp>
      <p:sp>
        <p:nvSpPr>
          <p:cNvPr id="4" name="Espace réservé du contenu 3"/>
          <p:cNvSpPr>
            <a:spLocks noGrp="1"/>
          </p:cNvSpPr>
          <p:nvPr>
            <p:ph sz="half" idx="2"/>
          </p:nvPr>
        </p:nvSpPr>
        <p:spPr/>
        <p:txBody>
          <a:bodyPr>
            <a:noAutofit/>
          </a:bodyPr>
          <a:lstStyle/>
          <a:p>
            <a:endParaRPr lang="fr-FR" sz="1000" dirty="0" smtClean="0"/>
          </a:p>
          <a:p>
            <a:endParaRPr lang="fr-FR" sz="1000" dirty="0"/>
          </a:p>
          <a:p>
            <a:endParaRPr lang="fr-FR" sz="1000" dirty="0" smtClean="0"/>
          </a:p>
          <a:p>
            <a:endParaRPr lang="fr-FR" sz="1000" dirty="0"/>
          </a:p>
          <a:p>
            <a:endParaRPr lang="fr-FR" sz="1000" dirty="0" smtClean="0"/>
          </a:p>
          <a:p>
            <a:pPr marL="0" indent="0">
              <a:buNone/>
            </a:pPr>
            <a:endParaRPr lang="fr-FR" sz="1000" dirty="0" smtClean="0"/>
          </a:p>
          <a:p>
            <a:endParaRPr lang="fr-FR" sz="1000" dirty="0"/>
          </a:p>
          <a:p>
            <a:r>
              <a:rPr lang="fr-FR" sz="1000" b="1" dirty="0" smtClean="0"/>
              <a:t>3. Lorsque les informations du compte sont récupérées ultérieurement, le compte est à découvert : </a:t>
            </a:r>
          </a:p>
          <a:p>
            <a:endParaRPr lang="fr-FR" sz="1000" dirty="0"/>
          </a:p>
          <a:p>
            <a:endParaRPr lang="fr-FR" sz="1000" dirty="0" smtClean="0"/>
          </a:p>
          <a:p>
            <a:pPr marL="0" indent="0">
              <a:buNone/>
            </a:pPr>
            <a:r>
              <a:rPr lang="en-US" sz="1000" dirty="0" smtClean="0"/>
              <a:t>HTTP/1.1 200 OK</a:t>
            </a:r>
          </a:p>
          <a:p>
            <a:pPr marL="0" indent="0">
              <a:buNone/>
            </a:pPr>
            <a:r>
              <a:rPr lang="en-US" sz="1000" dirty="0" smtClean="0"/>
              <a:t>Content-Type: application/xml</a:t>
            </a:r>
          </a:p>
          <a:p>
            <a:pPr marL="0" indent="0">
              <a:buNone/>
            </a:pPr>
            <a:r>
              <a:rPr lang="en-US" sz="1000" dirty="0" smtClean="0"/>
              <a:t>Content-Length: ...</a:t>
            </a:r>
          </a:p>
          <a:p>
            <a:pPr marL="0" indent="0">
              <a:buNone/>
            </a:pPr>
            <a:endParaRPr lang="en-US" sz="1000" dirty="0" smtClean="0"/>
          </a:p>
          <a:p>
            <a:pPr marL="0" indent="0">
              <a:buNone/>
            </a:pPr>
            <a:r>
              <a:rPr lang="en-US" sz="1000" dirty="0" smtClean="0"/>
              <a:t>&lt;?xml version="1.0"?&gt;</a:t>
            </a:r>
          </a:p>
          <a:p>
            <a:pPr marL="0" indent="0">
              <a:buNone/>
            </a:pPr>
            <a:r>
              <a:rPr lang="en-US" sz="1000" dirty="0" smtClean="0"/>
              <a:t>&lt;account&gt;</a:t>
            </a:r>
          </a:p>
          <a:p>
            <a:pPr marL="0" indent="0">
              <a:buNone/>
            </a:pPr>
            <a:r>
              <a:rPr lang="en-US" sz="1000" dirty="0" smtClean="0"/>
              <a:t>    &lt;</a:t>
            </a:r>
            <a:r>
              <a:rPr lang="en-US" sz="1000" dirty="0" err="1" smtClean="0"/>
              <a:t>account_number</a:t>
            </a:r>
            <a:r>
              <a:rPr lang="en-US" sz="1000" dirty="0" smtClean="0"/>
              <a:t>&gt;12345&lt;/</a:t>
            </a:r>
            <a:r>
              <a:rPr lang="en-US" sz="1000" dirty="0" err="1" smtClean="0"/>
              <a:t>account_number</a:t>
            </a:r>
            <a:r>
              <a:rPr lang="en-US" sz="1000" dirty="0" smtClean="0"/>
              <a:t>&gt;</a:t>
            </a:r>
          </a:p>
          <a:p>
            <a:pPr marL="0" indent="0">
              <a:buNone/>
            </a:pPr>
            <a:r>
              <a:rPr lang="en-US" sz="1000" dirty="0" smtClean="0"/>
              <a:t>    &lt;balance currency="</a:t>
            </a:r>
            <a:r>
              <a:rPr lang="en-US" sz="1000" dirty="0" err="1" smtClean="0"/>
              <a:t>usd</a:t>
            </a:r>
            <a:r>
              <a:rPr lang="en-US" sz="1000" dirty="0" smtClean="0"/>
              <a:t>"&gt; -25.00 &lt;/balance&gt;</a:t>
            </a:r>
          </a:p>
          <a:p>
            <a:pPr marL="0" indent="0">
              <a:buNone/>
            </a:pPr>
            <a:r>
              <a:rPr lang="en-US" sz="1000" dirty="0" smtClean="0"/>
              <a:t>    &lt;link </a:t>
            </a:r>
            <a:r>
              <a:rPr lang="en-US" sz="1000" dirty="0" err="1" smtClean="0"/>
              <a:t>rel</a:t>
            </a:r>
            <a:r>
              <a:rPr lang="en-US" sz="1000" dirty="0" smtClean="0"/>
              <a:t>="deposit" </a:t>
            </a:r>
            <a:r>
              <a:rPr lang="en-US" sz="1000" dirty="0" err="1" smtClean="0"/>
              <a:t>href</a:t>
            </a:r>
            <a:r>
              <a:rPr lang="en-US" sz="1000" dirty="0" smtClean="0"/>
              <a:t>="/accounts/12345/deposit" /&gt;</a:t>
            </a:r>
          </a:p>
          <a:p>
            <a:pPr marL="0" indent="0">
              <a:buNone/>
            </a:pPr>
            <a:r>
              <a:rPr lang="en-US" sz="1000" dirty="0" smtClean="0"/>
              <a:t>&lt;/account&gt;</a:t>
            </a:r>
            <a:endParaRPr lang="fr-FR" sz="1000" dirty="0" smtClean="0"/>
          </a:p>
          <a:p>
            <a:pPr marL="0" indent="0">
              <a:buNone/>
            </a:pPr>
            <a:r>
              <a:rPr lang="fr-FR" sz="1000" dirty="0" smtClean="0"/>
              <a:t>Maintenant un seul lien est disponible : </a:t>
            </a:r>
            <a:r>
              <a:rPr lang="fr-FR" sz="1000" b="1" dirty="0" err="1" smtClean="0"/>
              <a:t>deposit</a:t>
            </a:r>
            <a:r>
              <a:rPr lang="fr-FR" sz="1000" dirty="0" smtClean="0"/>
              <a:t>. Dans son état actuel, les autres liens ne sont pas disponibles. D'où le </a:t>
            </a:r>
            <a:r>
              <a:rPr lang="fr-FR" sz="1000" i="1" dirty="0" smtClean="0"/>
              <a:t>EOAS</a:t>
            </a:r>
            <a:r>
              <a:rPr lang="fr-FR" sz="1000" dirty="0" smtClean="0"/>
              <a:t> de HATEOAS, pour </a:t>
            </a:r>
            <a:r>
              <a:rPr lang="fr-FR" sz="1000" i="1" dirty="0" err="1" smtClean="0"/>
              <a:t>Engine</a:t>
            </a:r>
            <a:r>
              <a:rPr lang="fr-FR" sz="1000" i="1" dirty="0" smtClean="0"/>
              <a:t> of Application State</a:t>
            </a:r>
            <a:r>
              <a:rPr lang="fr-FR" sz="1000" dirty="0" smtClean="0"/>
              <a:t> : les actions possibles varient en fonction de l'état de la ressource. </a:t>
            </a:r>
          </a:p>
          <a:p>
            <a:pPr marL="0" indent="0">
              <a:buNone/>
            </a:pPr>
            <a:endParaRPr lang="fr-FR" sz="1000" dirty="0" smtClean="0"/>
          </a:p>
          <a:p>
            <a:endParaRPr lang="fr-FR" sz="1000" dirty="0"/>
          </a:p>
        </p:txBody>
      </p:sp>
    </p:spTree>
    <p:extLst>
      <p:ext uri="{BB962C8B-B14F-4D97-AF65-F5344CB8AC3E}">
        <p14:creationId xmlns:p14="http://schemas.microsoft.com/office/powerpoint/2010/main" val="18682090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rmAutofit/>
          </a:bodyPr>
          <a:lstStyle/>
          <a:p>
            <a:r>
              <a:rPr lang="fr-FR" b="1" dirty="0" smtClean="0"/>
              <a:t>Auteur comptant pour rien</a:t>
            </a:r>
            <a:br>
              <a:rPr lang="fr-FR" b="1" dirty="0" smtClean="0"/>
            </a:br>
            <a:r>
              <a:rPr lang="fr-FR" sz="1700" dirty="0" err="1" smtClean="0"/>
              <a:t>CaPeutChémar</a:t>
            </a:r>
            <a:r>
              <a:rPr lang="fr-FR" sz="1700" smtClean="0"/>
              <a:t>	</a:t>
            </a:r>
            <a:r>
              <a:rPr lang="fr-FR" sz="1100" smtClean="0"/>
              <a:t>https://short-edition.com/fr/oeuvre/poetik/auteur-comptant-pour-rien</a:t>
            </a:r>
            <a:endParaRPr lang="fr-FR" dirty="0"/>
          </a:p>
        </p:txBody>
      </p:sp>
      <p:sp>
        <p:nvSpPr>
          <p:cNvPr id="6" name="Espace réservé du contenu 5"/>
          <p:cNvSpPr>
            <a:spLocks noGrp="1"/>
          </p:cNvSpPr>
          <p:nvPr>
            <p:ph idx="1"/>
          </p:nvPr>
        </p:nvSpPr>
        <p:spPr/>
        <p:txBody>
          <a:bodyPr>
            <a:normAutofit fontScale="55000" lnSpcReduction="20000"/>
          </a:bodyPr>
          <a:lstStyle/>
          <a:p>
            <a:pPr marL="0" indent="0">
              <a:buNone/>
            </a:pPr>
            <a:r>
              <a:rPr lang="fr-FR" dirty="0" smtClean="0"/>
              <a:t>Ce concours de poésie n'est qu'un concours de circonstances,</a:t>
            </a:r>
            <a:br>
              <a:rPr lang="fr-FR" dirty="0" smtClean="0"/>
            </a:br>
            <a:r>
              <a:rPr lang="fr-FR" dirty="0" smtClean="0"/>
              <a:t>Je m'élance et dès lors danse avec des mots tendance.</a:t>
            </a:r>
            <a:br>
              <a:rPr lang="fr-FR" dirty="0" smtClean="0"/>
            </a:br>
            <a:r>
              <a:rPr lang="fr-FR" dirty="0" smtClean="0"/>
              <a:t>Les tendresses que le temps dresse me lassent</a:t>
            </a:r>
            <a:br>
              <a:rPr lang="fr-FR" dirty="0" smtClean="0"/>
            </a:br>
            <a:r>
              <a:rPr lang="fr-FR" dirty="0" smtClean="0"/>
              <a:t>Je place ce que je pense sur du papier tandis que le temps passe</a:t>
            </a:r>
            <a:br>
              <a:rPr lang="fr-FR" dirty="0" smtClean="0"/>
            </a:br>
            <a:r>
              <a:rPr lang="fr-FR" dirty="0" smtClean="0"/>
              <a:t>Et tant pis si j'embrasse des rimes bien trop lestes</a:t>
            </a:r>
            <a:br>
              <a:rPr lang="fr-FR" dirty="0" smtClean="0"/>
            </a:br>
            <a:r>
              <a:rPr lang="fr-FR" dirty="0" smtClean="0"/>
              <a:t>Tout à mon aise je délaisse avec des mots les maudits maux qui blessent</a:t>
            </a:r>
            <a:br>
              <a:rPr lang="fr-FR" dirty="0" smtClean="0"/>
            </a:br>
            <a:r>
              <a:rPr lang="fr-FR" dirty="0" smtClean="0"/>
              <a:t>Pas de blâme non, mon poème en deviendrait trop blême</a:t>
            </a:r>
            <a:br>
              <a:rPr lang="fr-FR" dirty="0" smtClean="0"/>
            </a:br>
            <a:r>
              <a:rPr lang="fr-FR" dirty="0" smtClean="0"/>
              <a:t>Mes écrits sans thème offrent au morose et au moins rose des chrysanthèmes</a:t>
            </a:r>
            <a:br>
              <a:rPr lang="fr-FR" dirty="0" smtClean="0"/>
            </a:br>
            <a:r>
              <a:rPr lang="fr-FR" dirty="0" smtClean="0"/>
              <a:t>C'est bel et bien de l'encre qui coule dans mes veines</a:t>
            </a:r>
            <a:br>
              <a:rPr lang="fr-FR" dirty="0" smtClean="0"/>
            </a:br>
            <a:r>
              <a:rPr lang="fr-FR" dirty="0" smtClean="0"/>
              <a:t>Je prends mon pied lorsque ma main et ma tête rendent ma feuille pleine</a:t>
            </a:r>
            <a:br>
              <a:rPr lang="fr-FR" dirty="0" smtClean="0"/>
            </a:br>
            <a:r>
              <a:rPr lang="fr-FR" dirty="0" smtClean="0"/>
              <a:t>Le papier est enceinte, prêt à accoucher de centaines de jeux de mots</a:t>
            </a:r>
            <a:br>
              <a:rPr lang="fr-FR" dirty="0" smtClean="0"/>
            </a:br>
            <a:r>
              <a:rPr lang="fr-FR" dirty="0" smtClean="0"/>
              <a:t>Bien que certains prennent sans peine les jeunes de haut</a:t>
            </a:r>
            <a:br>
              <a:rPr lang="fr-FR" dirty="0" smtClean="0"/>
            </a:br>
            <a:r>
              <a:rPr lang="fr-FR" dirty="0" smtClean="0"/>
              <a:t>Et si mes quelques vers et verbes ont vraiment de la verve</a:t>
            </a:r>
            <a:br>
              <a:rPr lang="fr-FR" dirty="0" smtClean="0"/>
            </a:br>
            <a:r>
              <a:rPr lang="fr-FR" dirty="0" smtClean="0"/>
              <a:t>Je verserai un verre qui s'avèrera savoureux et que je lèverai sans trêve</a:t>
            </a:r>
            <a:br>
              <a:rPr lang="fr-FR" dirty="0" smtClean="0"/>
            </a:br>
            <a:r>
              <a:rPr lang="fr-FR" dirty="0" smtClean="0"/>
              <a:t>En l'honneur de nos rimes tamisées, et de nos rêves brisés</a:t>
            </a:r>
            <a:br>
              <a:rPr lang="fr-FR" dirty="0" smtClean="0"/>
            </a:br>
            <a:r>
              <a:rPr lang="fr-FR" dirty="0" smtClean="0"/>
              <a:t>Beaucoup visent la lune alors que je lutte pour un auditoire captivé</a:t>
            </a:r>
            <a:br>
              <a:rPr lang="fr-FR" dirty="0" smtClean="0"/>
            </a:br>
            <a:r>
              <a:rPr lang="fr-FR" dirty="0" smtClean="0"/>
              <a:t>L'âme de mon </a:t>
            </a:r>
            <a:r>
              <a:rPr lang="fr-FR" dirty="0" err="1" smtClean="0"/>
              <a:t>slam</a:t>
            </a:r>
            <a:r>
              <a:rPr lang="fr-FR" dirty="0" smtClean="0"/>
              <a:t> s'évanouit soudain, non sans suite ni lendemain</a:t>
            </a:r>
            <a:br>
              <a:rPr lang="fr-FR" dirty="0" smtClean="0"/>
            </a:br>
            <a:r>
              <a:rPr lang="fr-FR" dirty="0" smtClean="0"/>
              <a:t>C'est déjà ou enfin la fin, et j'espère en laisser quelques-uns sur leur faim.</a:t>
            </a:r>
          </a:p>
          <a:p>
            <a:pPr marL="0" indent="0">
              <a:buNone/>
            </a:pPr>
            <a:endParaRPr lang="fr-FR" dirty="0"/>
          </a:p>
        </p:txBody>
      </p:sp>
    </p:spTree>
    <p:extLst>
      <p:ext uri="{BB962C8B-B14F-4D97-AF65-F5344CB8AC3E}">
        <p14:creationId xmlns:p14="http://schemas.microsoft.com/office/powerpoint/2010/main" val="7354676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FR" dirty="0" smtClean="0"/>
              <a:t>Webographie</a:t>
            </a:r>
            <a:endParaRPr lang="fr-FR" dirty="0"/>
          </a:p>
        </p:txBody>
      </p:sp>
      <p:sp>
        <p:nvSpPr>
          <p:cNvPr id="6" name="Espace réservé du contenu 5"/>
          <p:cNvSpPr>
            <a:spLocks noGrp="1"/>
          </p:cNvSpPr>
          <p:nvPr>
            <p:ph idx="1"/>
          </p:nvPr>
        </p:nvSpPr>
        <p:spPr/>
        <p:txBody>
          <a:bodyPr/>
          <a:lstStyle/>
          <a:p>
            <a:r>
              <a:rPr lang="fr-FR" dirty="0" smtClean="0">
                <a:hlinkClick r:id="rId3"/>
              </a:rPr>
              <a:t>https://fr.wikipedia.org/wiki/SOAP</a:t>
            </a:r>
            <a:endParaRPr lang="fr-FR" dirty="0" smtClean="0"/>
          </a:p>
          <a:p>
            <a:r>
              <a:rPr lang="fr-FR" dirty="0" smtClean="0">
                <a:hlinkClick r:id="rId4"/>
              </a:rPr>
              <a:t>https://fr.wikipedia.org/wiki/Representational_state_transfer</a:t>
            </a:r>
            <a:endParaRPr lang="fr-FR" dirty="0" smtClean="0"/>
          </a:p>
          <a:p>
            <a:r>
              <a:rPr lang="fr-FR" dirty="0" smtClean="0"/>
              <a:t>Cisco</a:t>
            </a:r>
          </a:p>
          <a:p>
            <a:r>
              <a:rPr lang="fr-FR" dirty="0" smtClean="0"/>
              <a:t>https://www.comprendre-internet.com/Qu-est-ce-qu-une-API-REST-ou-RESTful.html</a:t>
            </a:r>
            <a:endParaRPr lang="fr-FR" dirty="0"/>
          </a:p>
        </p:txBody>
      </p:sp>
    </p:spTree>
    <p:extLst>
      <p:ext uri="{BB962C8B-B14F-4D97-AF65-F5344CB8AC3E}">
        <p14:creationId xmlns:p14="http://schemas.microsoft.com/office/powerpoint/2010/main" val="13129924"/>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8446</TotalTime>
  <Words>1526</Words>
  <Application>Microsoft Office PowerPoint</Application>
  <PresentationFormat>Affichage à l'écran (4:3)</PresentationFormat>
  <Paragraphs>149</Paragraphs>
  <Slides>26</Slides>
  <Notes>2</Notes>
  <HiddenSlides>0</HiddenSlides>
  <MMClips>0</MMClips>
  <ScaleCrop>false</ScaleCrop>
  <HeadingPairs>
    <vt:vector size="4" baseType="variant">
      <vt:variant>
        <vt:lpstr>Thème</vt:lpstr>
      </vt:variant>
      <vt:variant>
        <vt:i4>1</vt:i4>
      </vt:variant>
      <vt:variant>
        <vt:lpstr>Titres des diapositives</vt:lpstr>
      </vt:variant>
      <vt:variant>
        <vt:i4>26</vt:i4>
      </vt:variant>
    </vt:vector>
  </HeadingPairs>
  <TitlesOfParts>
    <vt:vector size="27" baseType="lpstr">
      <vt:lpstr>Thème Office</vt:lpstr>
      <vt:lpstr>API et Web Service</vt:lpstr>
      <vt:lpstr>API  Application Programming Interface</vt:lpstr>
      <vt:lpstr>Quelques cas d'utilisation pour les API:</vt:lpstr>
      <vt:lpstr>Exemple 1 : Tâches d'automatisation </vt:lpstr>
      <vt:lpstr>Exemple 2 : Intégration de données </vt:lpstr>
      <vt:lpstr>Exemple 3 : Fonctionnalité </vt:lpstr>
      <vt:lpstr>Synchrone ou asynchrone</vt:lpstr>
      <vt:lpstr>Parenthèse : fonction de callback ou fonction de rappel</vt:lpstr>
      <vt:lpstr>Illustration fonction de callback</vt:lpstr>
      <vt:lpstr>Les API synchrones</vt:lpstr>
      <vt:lpstr>Les API asynchrones </vt:lpstr>
      <vt:lpstr>Trois technologies d'API</vt:lpstr>
      <vt:lpstr>RPC  Remote Procedure Call () </vt:lpstr>
      <vt:lpstr>SOAP</vt:lpstr>
      <vt:lpstr>Parenthèse : définition ressource web</vt:lpstr>
      <vt:lpstr>REST REprésententational State Transfer</vt:lpstr>
      <vt:lpstr>Les services web REST </vt:lpstr>
      <vt:lpstr>Le token</vt:lpstr>
      <vt:lpstr>Les contraintes de REST</vt:lpstr>
      <vt:lpstr>Les 6 contraintes</vt:lpstr>
      <vt:lpstr>Contrainte Client-serveur</vt:lpstr>
      <vt:lpstr>Contrainte Statique ou sans état </vt:lpstr>
      <vt:lpstr>Contrainte Mémoire cache ou avec mise en cache </vt:lpstr>
      <vt:lpstr>Exemple :</vt:lpstr>
      <vt:lpstr>Auteur comptant pour rien CaPeutChémar https://short-edition.com/fr/oeuvre/poetik/auteur-comptant-pour-rien</vt:lpstr>
      <vt:lpstr>Webographie</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et Web Service</dc:title>
  <dc:creator>Corinne</dc:creator>
  <cp:lastModifiedBy>Corinne</cp:lastModifiedBy>
  <cp:revision>37</cp:revision>
  <dcterms:created xsi:type="dcterms:W3CDTF">2022-11-08T13:20:53Z</dcterms:created>
  <dcterms:modified xsi:type="dcterms:W3CDTF">2024-12-04T09:10:22Z</dcterms:modified>
</cp:coreProperties>
</file>